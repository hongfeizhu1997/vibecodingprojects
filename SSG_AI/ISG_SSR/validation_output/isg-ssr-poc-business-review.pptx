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1D27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A1D27"/>
                </a:solidFill>
                <a:latin typeface="Calibri"/>
              </a:rPr>
              <a:t>Customer Verticals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A23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D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PS&amp;T</c:v>
                  </c:pt>
                  <c:pt idx="1">
                    <c:v>EDU</c:v>
                  </c:pt>
                  <c:pt idx="2">
                    <c:v>MFG</c:v>
                  </c:pt>
                  <c:pt idx="3">
                    <c:v>Retail</c:v>
                  </c:pt>
                  <c:pt idx="4">
                    <c:v>Public</c:v>
                  </c:pt>
                  <c:pt idx="5">
                    <c:v>Other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19.5</c:v>
                </c:pt>
                <c:pt idx="1">
                  <c:v>14</c:v>
                </c:pt>
                <c:pt idx="2">
                  <c:v>12.8</c:v>
                </c:pt>
                <c:pt idx="3">
                  <c:v>11.9</c:v>
                </c:pt>
                <c:pt idx="4">
                  <c:v>9.8</c:v>
                </c:pt>
                <c:pt idx="5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D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E2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1D27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A1D27"/>
                </a:solidFill>
                <a:latin typeface="Calibri"/>
              </a:rPr>
              <a:t>Top-1 Match Rate by Segment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Top-1 Match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D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Indirect
SMB</c:v>
                  </c:pt>
                  <c:pt idx="1">
                    <c:v>Indirect
COM</c:v>
                  </c:pt>
                  <c:pt idx="2">
                    <c:v>Direct
COM</c:v>
                  </c:pt>
                  <c:pt idx="3">
                    <c:v>US · CA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</c:v>
                </c:pt>
                <c:pt idx="1">
                  <c:v>84.4</c:v>
                </c:pt>
                <c:pt idx="2">
                  <c:v>83.3</c:v>
                </c:pt>
                <c:pt idx="3">
                  <c:v>84.7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D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8"/>
          <c:min val="80"/>
        </c:scaling>
        <c:delete val="0"/>
        <c:axPos val="l"/>
        <c:majorGridlines>
          <c:spPr>
            <a:ln w="3810" cap="flat">
              <a:solidFill>
                <a:srgbClr val="E2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1D27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A1D27"/>
                </a:solidFill>
                <a:latin typeface="Calibri"/>
              </a:rPr>
              <a:t>SLA Confusion (Δ 6 — Symmetric)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D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24×7→NBD</c:v>
                  </c:pt>
                  <c:pt idx="1">
                    <c:v>NBD→24×7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</c:v>
                </c:pt>
                <c:pt idx="1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D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3810" cap="flat">
              <a:solidFill>
                <a:srgbClr val="E2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LENOVO SSG · AI SOLUTIONS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ISG SSR Service Smart</a:t>
            </a:r>
            <a:endParaRPr lang="en-US" sz="3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— POC Review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2880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Business Review · NA Holdout · 2,296 Contracts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3291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generalization test on unseen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E2E5E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 SSR · POC Business Review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292608" cy="29260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0" y="1188720"/>
            <a:ext cx="6400800" cy="438912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08760" y="120700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Scope &amp; Overall Result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8760" y="141732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composition, holdout design, Top-1 match rate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1783080"/>
            <a:ext cx="292608" cy="29260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0" y="1737360"/>
            <a:ext cx="6400800" cy="438912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08760" y="175564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Methodology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196596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blind-test performance differs from production behaviour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0" y="2331720"/>
            <a:ext cx="292608" cy="29260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71600" y="2286000"/>
            <a:ext cx="6400800" cy="438912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08760" y="230428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— Consistent Across Segments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08760" y="251460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Channel, segment, country — all stable, no intervention needed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2880360"/>
            <a:ext cx="292608" cy="29260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71600" y="2834640"/>
            <a:ext cx="6400800" cy="438912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08760" y="285292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Adjustments Recommended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08760" y="306324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duration, PSP coverage, overall posture — 3 targeted improvements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14400" y="3429000"/>
            <a:ext cx="292608" cy="29260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71600" y="3383280"/>
            <a:ext cx="6400800" cy="438912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508760" y="340156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Analysis &amp; Summary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08760" y="361188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SLA confusion + comprehensive findings with recommendations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 SSR · Service Recommendation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 Passed — 3 Adjustments Identified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Holdout · 2,296 contracts · Blind generalization test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2,296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6000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023360" y="2011680"/>
            <a:ext cx="9144" cy="502920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85.2%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297680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MATCH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0" y="2011680"/>
            <a:ext cx="9144" cy="502920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POC SCOPE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2,296 NA contracts — 91% indirect, 50:50 COM/SMB, 95% servers, median $29K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1,779 · CA 516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8288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97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46888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480560" y="1005840"/>
            <a:ext cx="18288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0560" y="1097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48056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50:50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· SMB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492240" y="1005840"/>
            <a:ext cx="18288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097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49224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2286000"/>
            <a:ext cx="393192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2377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Price Distribution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2651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Min </a:t>
            </a:r>
            <a:pPr indent="0" marL="0">
              <a:buNone/>
            </a:pPr>
            <a:r>
              <a:rPr lang="en-US" sz="800" dirty="0">
                <a:solidFill>
                  <a:srgbClr val="1A1D27"/>
                </a:solidFill>
              </a:rPr>
              <a:t>$2.7K</a:t>
            </a:r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  ·  P25 </a:t>
            </a:r>
            <a:pPr indent="0" marL="0">
              <a:buNone/>
            </a:pPr>
            <a:r>
              <a:rPr lang="en-US" sz="800" dirty="0">
                <a:solidFill>
                  <a:srgbClr val="1A1D27"/>
                </a:solidFill>
              </a:rPr>
              <a:t>$14.5K</a:t>
            </a:r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</a:rPr>
              <a:t>  ·  Median </a:t>
            </a:r>
            <a:pPr indent="0" marL="0">
              <a:buNone/>
            </a:pPr>
            <a:r>
              <a:rPr lang="en-US" sz="900" b="1" dirty="0">
                <a:solidFill>
                  <a:srgbClr val="1A1D27"/>
                </a:solidFill>
              </a:rPr>
              <a:t>$29K</a:t>
            </a:r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  ·  P75 </a:t>
            </a:r>
            <a:pPr indent="0" marL="0">
              <a:buNone/>
            </a:pPr>
            <a:r>
              <a:rPr lang="en-US" sz="800" dirty="0">
                <a:solidFill>
                  <a:srgbClr val="1A1D27"/>
                </a:solidFill>
              </a:rPr>
              <a:t>$55.6K</a:t>
            </a:r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  ·  Max </a:t>
            </a:r>
            <a:pPr indent="0" marL="0">
              <a:buNone/>
            </a:pPr>
            <a:r>
              <a:rPr lang="en-US" sz="800" dirty="0">
                <a:solidFill>
                  <a:srgbClr val="1A1D27"/>
                </a:solidFill>
              </a:rPr>
              <a:t>$1M</a:t>
            </a:r>
            <a:endParaRPr lang="en-US" sz="8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663440" y="1005840"/>
          <a:ext cx="4023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3566160"/>
            <a:ext cx="8229600" cy="914400"/>
          </a:xfrm>
          <a:prstGeom prst="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566160"/>
            <a:ext cx="36576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3657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37E"/>
                </a:solidFill>
              </a:rPr>
              <a:t>Holdout Design: 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All 2,296 contracts were excluded from training. The model has never seen these configurations.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This is a true generalization test — not a training-evaluation split on the same distribution.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VALIDATION METHODOLOGY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aced the blind exam; production is the real-world job interview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56032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Textbook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deals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studied from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560320" cy="1463040"/>
          </a:xfrm>
          <a:prstGeom prst="rect">
            <a:avLst>
              <a:gd name="adj" fmla="val 5000"/>
            </a:avLst>
          </a:prstGeom>
          <a:solidFill>
            <a:srgbClr val="EEF2FF"/>
          </a:solidFill>
          <a:ln w="19050">
            <a:solidFill>
              <a:srgbClr val="1A237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91840" y="141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(POC)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91840" y="1627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2,296 contracts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has never seen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56032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26480" y="141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26480" y="1627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Job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sellers accept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override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8229600" cy="640080"/>
          </a:xfrm>
          <a:prstGeom prst="rect">
            <a:avLst>
              <a:gd name="adj" fmla="val 8571"/>
            </a:avLst>
          </a:prstGeom>
          <a:solidFill>
            <a:srgbClr val="FFFBEB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606040"/>
            <a:ext cx="36576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63347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Three production differences: 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① Seller behaviour not captured in validation — correct recommendations can be rejected. ② Product mix shifts over time — accuracy will drift. ③ Track seller override rate as proxy for ongoing model quality.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  <a:gridCol w="1920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</a:rPr>
                        <a:t>Training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37E"/>
                          </a:solidFill>
                        </a:rPr>
                        <a:t>Validation (POC)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</a:rPr>
                        <a:t>Production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</a:rPr>
                        <a:t>Model has seen this?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D27"/>
                          </a:solidFill>
                        </a:rPr>
                        <a:t>✅ Yes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❌ Blind test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D27"/>
                          </a:solidFill>
                        </a:rPr>
                        <a:t>❌ Real world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</a:rPr>
                        <a:t>Measures…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D27"/>
                          </a:solidFill>
                        </a:rPr>
                        <a:t>Can it learn?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7E"/>
                          </a:solidFill>
                        </a:rPr>
                        <a:t>Does it generalise?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D27"/>
                          </a:solidFill>
                        </a:rPr>
                        <a:t>Do sellers accept?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</a:rPr>
                        <a:t>Who decides?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A3AF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CA3AF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</a:rPr>
                        <a:t>The seller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VALIDATED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Channel, segment, country — all within ±3pp. The model generalises evenly, no intervention needed.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202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247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· SMB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86.0%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184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1,144 contracts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0" y="1051560"/>
            <a:ext cx="19202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1247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· COM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560320" y="1307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84.4%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0" y="16184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941 contracts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19202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1305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· COM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2313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83.3%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26243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 contracts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560320" y="2057400"/>
            <a:ext cx="19202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0" y="21305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· CANADA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560320" y="2313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84.7% · 87.0%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60320" y="26243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2.3pp — negligible</a:t>
            </a:r>
            <a:endParaRPr lang="en-US" sz="7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846320" y="1051560"/>
          <a:ext cx="38404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457200" y="3108960"/>
            <a:ext cx="8229600" cy="594360"/>
          </a:xfrm>
          <a:prstGeom prst="rect">
            <a:avLst>
              <a:gd name="adj" fmla="val 9231"/>
            </a:avLst>
          </a:prstGeom>
          <a:solidFill>
            <a:srgbClr val="ECFDF5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" y="3108960"/>
            <a:ext cx="36576" cy="594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31272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Channel, Segment, Country, Hardware Category: 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all within 3pp. No geographic bias, no GTM bias. These dimensions are production-ready without modification.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ADJUSTMENTS RECOMMENDED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is net-conservative — 3 adjustments push toward more appropriate coverage levels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02920"/>
          </a:xfrm>
          <a:prstGeom prst="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326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When the model is wrong, it leans conservative </a:t>
            </a:r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(36.2% of misses recommend cheaper/shorter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 vs </a:t>
            </a:r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28.2% more expensive/longer)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. The seller can always downgrade, so aggressive errors are lower-risk. All 3 adjustments push in the same direction.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283464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91640"/>
            <a:ext cx="320040" cy="182880"/>
          </a:xfrm>
          <a:prstGeom prst="rect">
            <a:avLst>
              <a:gd name="adj" fmla="val 30000"/>
            </a:avLst>
          </a:prstGeom>
          <a:solidFill>
            <a:srgbClr val="FEF2F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916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87552" y="1673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Term Duration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contracts got shorter coverage than purchased. 46.8% of all errors are term mix-ups — the #1 error source.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94360" y="2788920"/>
            <a:ext cx="2286000" cy="502920"/>
          </a:xfrm>
          <a:prstGeom prst="rect">
            <a:avLst>
              <a:gd name="adj" fmla="val 10909"/>
            </a:avLst>
          </a:prstGeom>
          <a:solidFill>
            <a:srgbClr val="F8F9FB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16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Keep as-is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3364992"/>
            <a:ext cx="2286000" cy="502920"/>
          </a:xfrm>
          <a:prstGeom prst="rect">
            <a:avLst>
              <a:gd name="adj" fmla="val 10909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924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Default to longer term — seller retains full control to downgrade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91840" y="1554480"/>
            <a:ext cx="2560320" cy="283464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9000" y="1691640"/>
            <a:ext cx="320040" cy="182880"/>
          </a:xfrm>
          <a:prstGeom prst="rect">
            <a:avLst>
              <a:gd name="adj" fmla="val 30000"/>
            </a:avLst>
          </a:prstGeom>
          <a:solidFill>
            <a:srgbClr val="FE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6916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822192" y="1673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PSP Server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of 162 PSP Server customers got Premier instead. Only 7.1% of training data is PSP — class imbalance drives conservative defaulting.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29000" y="2788920"/>
            <a:ext cx="2286000" cy="502920"/>
          </a:xfrm>
          <a:prstGeom prst="rect">
            <a:avLst>
              <a:gd name="adj" fmla="val 10909"/>
            </a:avLst>
          </a:prstGeom>
          <a:solidFill>
            <a:srgbClr val="F8F9FB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2816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Data only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429000" y="3364992"/>
            <a:ext cx="2286000" cy="502920"/>
          </a:xfrm>
          <a:prstGeom prst="rect">
            <a:avLst>
              <a:gd name="adj" fmla="val 10909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3924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 + PSP bias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26480" y="1554480"/>
            <a:ext cx="2560320" cy="283464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1691640"/>
            <a:ext cx="320040" cy="182880"/>
          </a:xfrm>
          <a:prstGeom prst="rect">
            <a:avLst>
              <a:gd name="adj" fmla="val 30000"/>
            </a:avLst>
          </a:prstGeom>
          <a:solidFill>
            <a:srgbClr val="FFFBEB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16916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656832" y="1673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Overall Posture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miss ratio: 36.2% conservative vs 28.2% aggressive. A 3:2 tilt toward cheaper recommendations leaves revenue on the table.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63640" y="2788920"/>
            <a:ext cx="2286000" cy="502920"/>
          </a:xfrm>
          <a:prstGeom prst="rect">
            <a:avLst>
              <a:gd name="adj" fmla="val 10909"/>
            </a:avLst>
          </a:prstGeom>
          <a:solidFill>
            <a:srgbClr val="F8F9FB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816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Keep 36:28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63640" y="3364992"/>
            <a:ext cx="2286000" cy="502920"/>
          </a:xfrm>
          <a:prstGeom prst="rect">
            <a:avLst>
              <a:gd name="adj" fmla="val 10909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3924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Shift to ~1:1 — test threshold in A/B pilot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SLA ANALYSIS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 confusion is symmetric (51:57) — the model cannot distinguish 24×7 from NBD well enough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572000" cy="237744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 Tier: Symmetric Confusion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124712"/>
            <a:ext cx="1645920" cy="201168"/>
          </a:xfrm>
          <a:prstGeom prst="rect">
            <a:avLst>
              <a:gd name="adj" fmla="val 27273"/>
            </a:avLst>
          </a:prstGeom>
          <a:solidFill>
            <a:srgbClr val="ECFDF5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124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ENHANCEMENT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192024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53619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53619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pPr indent="0" marL="0">
              <a:buNone/>
            </a:pPr>
            <a:r>
              <a:rPr lang="en-US" sz="800" dirty="0">
                <a:solidFill>
                  <a:srgbClr val="1A1D27"/>
                </a:solidFill>
              </a:rPr>
              <a:t>  24×7 → NBD errors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0" y="1508760"/>
            <a:ext cx="1920240" cy="457200"/>
          </a:xfrm>
          <a:prstGeom prst="rect">
            <a:avLst>
              <a:gd name="adj" fmla="val 12000"/>
            </a:avLst>
          </a:prstGeom>
          <a:solidFill>
            <a:srgbClr val="FE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2816352" y="153619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54680" y="153619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</a:t>
            </a:r>
            <a:pPr indent="0" marL="0">
              <a:buNone/>
            </a:pPr>
            <a:r>
              <a:rPr lang="en-US" sz="800" dirty="0">
                <a:solidFill>
                  <a:srgbClr val="1A1D27"/>
                </a:solidFill>
              </a:rPr>
              <a:t>  NBD → 24×7 errors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1031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1D27"/>
                </a:solidFill>
              </a:rPr>
              <a:t>Finding: 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Nearly balanced (51:57). The model is not biased toward either SLA tier — it simply cannot tell them apart reliably.</a:t>
            </a:r>
            <a:pPr indent="0" marL="0">
              <a:buNone/>
            </a:pPr>
            <a:r>
              <a:rPr lang="en-US" sz="800" b="1" dirty="0">
                <a:solidFill>
                  <a:srgbClr val="1A1D27"/>
                </a:solidFill>
              </a:rPr>
              <a:t>Recommendation: 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Do not apply directional tuning. Instead, add stronger features: hardware criticality scoring and customer industry vertical to help the model distinguish SLA needs.</a:t>
            </a:r>
            <a:pPr indent="0" marL="0">
              <a:buNone/>
            </a:pPr>
            <a:r>
              <a:rPr lang="en-US" sz="800" b="1" dirty="0">
                <a:solidFill>
                  <a:srgbClr val="1A1D27"/>
                </a:solidFill>
              </a:rPr>
              <a:t>Priority: </a:t>
            </a:r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P2 — address after P0 adjustments are validated.</a:t>
            </a:r>
            <a:endParaRPr lang="en-US" sz="8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303520" y="1005840"/>
          <a:ext cx="33832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SUMMARY &amp; RECOMMENDATIONS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finding stands above all others: 46.8% of errors are term mix-ups — fix this first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828800"/>
                <a:gridCol w="2194560"/>
                <a:gridCol w="45720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Impact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D27"/>
                          </a:solidFill>
                        </a:rPr>
                        <a:t>Term Duration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DC2626"/>
                          </a:solidFill>
                        </a:rPr>
                        <a:t>↓ Conservative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</a:rPr>
                        <a:t>76 contracts downgraded from 60M to 36M. 46.8% of all errors.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</a:rPr>
                        <a:t>Default to longer term when confidence below threshold. Seller retains override.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P0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59669"/>
                          </a:solidFill>
                        </a:rPr>
                        <a:t>↑ Service revenue on ~3.3% of contracts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D27"/>
                          </a:solidFill>
                        </a:rPr>
                        <a:t>PSP Server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DC2626"/>
                          </a:solidFill>
                        </a:rPr>
                        <a:t>↓ Conservative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</a:rPr>
                        <a:t>31/162 PSP customers under-served. Driven by 7.1% training data share.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</a:rPr>
                        <a:t>Augment PSP training samples + apply modest PSP preference when confidence gap is small.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P0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59669"/>
                          </a:solidFill>
                        </a:rPr>
                        <a:t>↑ PSP attach on server deals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D27"/>
                          </a:solidFill>
                        </a:rPr>
                        <a:t>Overall Posture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DC2626"/>
                          </a:solidFill>
                        </a:rPr>
                        <a:t>3:2 conservative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</a:rPr>
                        <a:t>36.2% conservative vs 28.2% aggressive. Model systematically recommends cheaper.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</a:rPr>
                        <a:t>Apply small global bias adjustment to balance. Validate threshold in A/B pilot.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P1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59669"/>
                          </a:solidFill>
                        </a:rPr>
                        <a:t>↑ Coverage across all types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D27"/>
                          </a:solidFill>
                        </a:rPr>
                        <a:t>SLA Tier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</a:rPr>
                        <a:t>Neutral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</a:rPr>
                        <a:t>Symmetric 51:57 confusion. Model cannot distinguish SLA needs — not biased.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</a:rPr>
                        <a:t>Add hardware criticality + industry vertical features. No directional tuning.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P2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</a:rPr>
                        <a:t>↓ SLA mismatch long-term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D27"/>
                          </a:solidFill>
                        </a:rPr>
                        <a:t>Channel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</a:rPr>
                        <a:t>Validated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</a:rPr>
                        <a:t>83–86% flat across Indirect/Direct. No bias.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</a:rPr>
                        <a:t>No intervention needed.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CA3AF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D27"/>
                          </a:solidFill>
                        </a:rPr>
                        <a:t>Segment / Country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59669"/>
                          </a:solidFill>
                        </a:rPr>
                        <a:t>Validated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</a:rPr>
                        <a:t>COM and SMB within 2pp. US vs Canada Δ 2.3pp — negligible.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280"/>
                          </a:solidFill>
                        </a:rPr>
                        <a:t>No intervention needed.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CA3AF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73152" marR="73152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86200"/>
            <a:ext cx="8229600" cy="1005840"/>
          </a:xfrm>
          <a:prstGeom prst="rect">
            <a:avLst>
              <a:gd name="adj" fmla="val 727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9502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action: Address P0 items first (term duration + PSP data), validate in A/B pilot, then apply P1 posture adjustment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37E"/>
                </a:solidFill>
              </a:rPr>
              <a:t>• </a:t>
            </a:r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Term duration fix alone addresses 46.8% of current errors — the single highest-impact change</a:t>
            </a:r>
            <a:pPr indent="0" marL="0">
              <a:buNone/>
            </a:pPr>
            <a:r>
              <a:rPr lang="en-US" sz="700" dirty="0">
                <a:solidFill>
                  <a:srgbClr val="1A237E"/>
                </a:solidFill>
              </a:rPr>
              <a:t>• </a:t>
            </a:r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All adjustments are low-risk: the seller retains final decision on every recommendation</a:t>
            </a:r>
            <a:pPr indent="0" marL="0">
              <a:buNone/>
            </a:pPr>
            <a:r>
              <a:rPr lang="en-US" sz="700" dirty="0">
                <a:solidFill>
                  <a:srgbClr val="1A237E"/>
                </a:solidFill>
              </a:rPr>
              <a:t>• </a:t>
            </a:r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Monitor seller override rate in pilot as the primary quality signal — it replaces the blind-test metric in production</a:t>
            </a:r>
            <a:pPr indent="0" marL="0">
              <a:buNone/>
            </a:pPr>
            <a:r>
              <a:rPr lang="en-US" sz="700" dirty="0">
                <a:solidFill>
                  <a:srgbClr val="1A237E"/>
                </a:solidFill>
              </a:rPr>
              <a:t>• </a:t>
            </a:r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Retrain with production feedback loop after 2–3 quarters of live data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ISG SSR POC — Business Review</dc:title>
  <dc:subject>PptxGenJS Presentation</dc:subject>
  <dc:creator>Lenovo SSG AI Solutions</dc:creator>
  <cp:lastModifiedBy>Lenovo SSG AI Solutions</cp:lastModifiedBy>
  <cp:revision>1</cp:revision>
  <dcterms:created xsi:type="dcterms:W3CDTF">2026-08-12T13:36:38Z</dcterms:created>
  <dcterms:modified xsi:type="dcterms:W3CDTF">2026-08-12T13:36:38Z</dcterms:modified>
</cp:coreProperties>
</file>