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sg-ssr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sg-ssr-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57150"/>
          </a:xfrm>
          <a:prstGeom prst="rect">
            <a:avLst/>
          </a:prstGeom>
          <a:solidFill>
            <a:srgbClr val="E1251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048000" y="0"/>
            <a:ext cx="3048000" cy="57150"/>
          </a:xfrm>
          <a:prstGeom prst="rect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6096000" y="0"/>
            <a:ext cx="3048000" cy="57150"/>
          </a:xfrm>
          <a:prstGeom prst="rect">
            <a:avLst/>
          </a:prstGeom>
          <a:solidFill>
            <a:srgbClr val="4D144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0" y="0"/>
            <a:ext cx="3048000" cy="57150"/>
          </a:xfrm>
          <a:prstGeom prst="rect">
            <a:avLst/>
          </a:prstGeom>
          <a:solidFill>
            <a:srgbClr val="7A12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280398" y="2461260"/>
            <a:ext cx="36312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spc="375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LENOVO SSG · AI SOLUTIONS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61890" y="2917508"/>
            <a:ext cx="846822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1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ISG SSR Service Smart Recommendation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53570" y="3412808"/>
            <a:ext cx="28848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1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— POC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70535" y="4159568"/>
            <a:ext cx="46509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POC Business Review · NA Holdout · 2,296 Contracts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0265" y="4649152"/>
            <a:ext cx="27714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Blind generalization test on unseen data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68077" y="572452"/>
            <a:ext cx="3455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ISG SSR · POC BUSINESS REVIEW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2701" y="848678"/>
            <a:ext cx="12265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38250" y="1524000"/>
            <a:ext cx="9858375" cy="571500"/>
            <a:chOff x="1238250" y="1524000"/>
            <a:chExt cx="9858375" cy="571500"/>
          </a:xfrm>
        </p:grpSpPr>
        <p:sp>
          <p:nvSpPr>
            <p:cNvPr id="4" name="Ellipse 4"/>
            <p:cNvSpPr/>
            <p:nvPr/>
          </p:nvSpPr>
          <p:spPr>
            <a:xfrm>
              <a:off x="1238250" y="1619250"/>
              <a:ext cx="381000" cy="3810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69415" y="1721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762125" y="1524000"/>
              <a:ext cx="9334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93011" y="1608296"/>
              <a:ext cx="2655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POC Scope &amp; Overall Result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5297" y="1875949"/>
              <a:ext cx="33703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Data composition, holdout design, Top-1 match rate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8250" y="2305050"/>
            <a:ext cx="9858375" cy="571500"/>
            <a:chOff x="1238250" y="2305050"/>
            <a:chExt cx="9858375" cy="571500"/>
          </a:xfrm>
        </p:grpSpPr>
        <p:sp>
          <p:nvSpPr>
            <p:cNvPr id="10" name="Ellipse 10"/>
            <p:cNvSpPr/>
            <p:nvPr/>
          </p:nvSpPr>
          <p:spPr>
            <a:xfrm>
              <a:off x="1238250" y="2400300"/>
              <a:ext cx="381000" cy="3810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69415" y="25022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62125" y="2305050"/>
              <a:ext cx="9334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93011" y="2389346"/>
              <a:ext cx="2244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Validation Methodology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95297" y="2656999"/>
              <a:ext cx="40842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Why blind-test performance differs from production behaviour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8250" y="3086100"/>
            <a:ext cx="9858375" cy="571500"/>
            <a:chOff x="1238250" y="3086100"/>
            <a:chExt cx="9858375" cy="571500"/>
          </a:xfrm>
        </p:grpSpPr>
        <p:sp>
          <p:nvSpPr>
            <p:cNvPr id="16" name="Ellipse 16"/>
            <p:cNvSpPr/>
            <p:nvPr/>
          </p:nvSpPr>
          <p:spPr>
            <a:xfrm>
              <a:off x="1238250" y="3181350"/>
              <a:ext cx="381000" cy="3810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69415" y="3283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762125" y="3086100"/>
              <a:ext cx="9334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93011" y="3170396"/>
              <a:ext cx="3925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Validated — Consistent Across Segments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5297" y="3438049"/>
              <a:ext cx="40778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Channel, segment, country — all stable, no intervention needed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8250" y="3867150"/>
            <a:ext cx="9858375" cy="571500"/>
            <a:chOff x="1238250" y="3867150"/>
            <a:chExt cx="9858375" cy="571500"/>
          </a:xfrm>
        </p:grpSpPr>
        <p:sp>
          <p:nvSpPr>
            <p:cNvPr id="22" name="Ellipse 22"/>
            <p:cNvSpPr/>
            <p:nvPr/>
          </p:nvSpPr>
          <p:spPr>
            <a:xfrm>
              <a:off x="1238250" y="3962400"/>
              <a:ext cx="381000" cy="3810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69415" y="40643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762125" y="3867150"/>
              <a:ext cx="9334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93011" y="3951446"/>
              <a:ext cx="2586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Adjustments Recommended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95297" y="4219099"/>
              <a:ext cx="47582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Term duration, PSP coverage, overall posture — 3 targeted improvements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8250" y="4648200"/>
            <a:ext cx="9858375" cy="571500"/>
            <a:chOff x="1238250" y="4648200"/>
            <a:chExt cx="9858375" cy="571500"/>
          </a:xfrm>
        </p:grpSpPr>
        <p:sp>
          <p:nvSpPr>
            <p:cNvPr id="28" name="Ellipse 28"/>
            <p:cNvSpPr/>
            <p:nvPr/>
          </p:nvSpPr>
          <p:spPr>
            <a:xfrm>
              <a:off x="1238250" y="4743450"/>
              <a:ext cx="381000" cy="381000"/>
            </a:xfrm>
            <a:prstGeom prst="ellipse">
              <a:avLst/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69415" y="4845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762125" y="4648200"/>
              <a:ext cx="93345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93011" y="4732496"/>
              <a:ext cx="2308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SLA Analysis &amp; Summary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5297" y="5000149"/>
              <a:ext cx="47305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Symmetric SLA confusion + comprehensive findings with recommendations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23727" y="1124902"/>
            <a:ext cx="39445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ISG SSR · SERVICE RECOMMENDATION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13864" y="1581150"/>
            <a:ext cx="796427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POC Passed — 3 Adjustments Identified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94733" y="2216468"/>
            <a:ext cx="500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NA Holdout · 2,296 contracts · Blind generalization test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54341" y="3228975"/>
            <a:ext cx="1787319" cy="958786"/>
            <a:chOff x="2154341" y="3228975"/>
            <a:chExt cx="1787319" cy="958786"/>
          </a:xfrm>
        </p:grpSpPr>
        <p:sp>
          <p:nvSpPr>
            <p:cNvPr id="5" name="TextBox 5"/>
            <p:cNvSpPr txBox="1"/>
            <p:nvPr/>
          </p:nvSpPr>
          <p:spPr>
            <a:xfrm>
              <a:off x="2154341" y="3228975"/>
              <a:ext cx="178731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2,296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553512" y="3982402"/>
              <a:ext cx="988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CONTRACTS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38733" y="3228975"/>
            <a:ext cx="1914535" cy="958786"/>
            <a:chOff x="5138733" y="3228975"/>
            <a:chExt cx="1914535" cy="958786"/>
          </a:xfrm>
        </p:grpSpPr>
        <p:sp>
          <p:nvSpPr>
            <p:cNvPr id="8" name="TextBox 8"/>
            <p:cNvSpPr txBox="1"/>
            <p:nvPr/>
          </p:nvSpPr>
          <p:spPr>
            <a:xfrm>
              <a:off x="5138733" y="3228975"/>
              <a:ext cx="191453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85.2%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97845" y="3982402"/>
              <a:ext cx="119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TOP-1 MATCH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41925" y="3228975"/>
            <a:ext cx="1204151" cy="958786"/>
            <a:chOff x="8541925" y="3228975"/>
            <a:chExt cx="1204151" cy="958786"/>
          </a:xfrm>
        </p:grpSpPr>
        <p:sp>
          <p:nvSpPr>
            <p:cNvPr id="11" name="TextBox 11"/>
            <p:cNvSpPr txBox="1"/>
            <p:nvPr/>
          </p:nvSpPr>
          <p:spPr>
            <a:xfrm>
              <a:off x="8950028" y="32289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41925" y="3982402"/>
              <a:ext cx="120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ADJUSTMENTS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4572000" y="3333750"/>
            <a:ext cx="9525" cy="104775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0" y="3333750"/>
            <a:ext cx="9525" cy="104775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72452"/>
            <a:ext cx="17180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01 · POC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213" y="886301"/>
            <a:ext cx="1112810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2,296 NA contracts — 91% indirect, 50:50 COM/SMB, 95% servers, median $29K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71500" y="1333500"/>
            <a:ext cx="2571750" cy="1143000"/>
            <a:chOff x="571500" y="1333500"/>
            <a:chExt cx="2571750" cy="1143000"/>
          </a:xfrm>
        </p:grpSpPr>
        <p:sp>
          <p:nvSpPr>
            <p:cNvPr id="4" name="Rectangle 4"/>
            <p:cNvSpPr/>
            <p:nvPr/>
          </p:nvSpPr>
          <p:spPr>
            <a:xfrm>
              <a:off x="571500" y="1333500"/>
              <a:ext cx="2571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580845" y="1541145"/>
              <a:ext cx="5530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REGION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34955" y="182022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NA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18146" y="2245995"/>
              <a:ext cx="1078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US 1,779 · CA 516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33750" y="1333500"/>
            <a:ext cx="2571750" cy="1143000"/>
            <a:chOff x="3333750" y="1333500"/>
            <a:chExt cx="2571750" cy="1143000"/>
          </a:xfrm>
        </p:grpSpPr>
        <p:sp>
          <p:nvSpPr>
            <p:cNvPr id="9" name="Rectangle 9"/>
            <p:cNvSpPr/>
            <p:nvPr/>
          </p:nvSpPr>
          <p:spPr>
            <a:xfrm>
              <a:off x="3333750" y="1333500"/>
              <a:ext cx="2571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92102" y="1541145"/>
              <a:ext cx="6550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CHANNEL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73259" y="1820228"/>
              <a:ext cx="6927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91%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76933" y="2245995"/>
              <a:ext cx="4853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Indirect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0" y="1333500"/>
            <a:ext cx="2571750" cy="1143000"/>
            <a:chOff x="6096000" y="1333500"/>
            <a:chExt cx="2571750" cy="1143000"/>
          </a:xfrm>
        </p:grpSpPr>
        <p:sp>
          <p:nvSpPr>
            <p:cNvPr id="14" name="Rectangle 14"/>
            <p:cNvSpPr/>
            <p:nvPr/>
          </p:nvSpPr>
          <p:spPr>
            <a:xfrm>
              <a:off x="6096000" y="1333500"/>
              <a:ext cx="2571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0910" y="1541145"/>
              <a:ext cx="6819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SEGMENT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3309" y="182022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50:50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53872" y="2245995"/>
              <a:ext cx="6560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COM · SMB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58250" y="1333500"/>
            <a:ext cx="2571750" cy="1143000"/>
            <a:chOff x="8858250" y="1333500"/>
            <a:chExt cx="2571750" cy="1143000"/>
          </a:xfrm>
        </p:grpSpPr>
        <p:sp>
          <p:nvSpPr>
            <p:cNvPr id="19" name="Rectangle 19"/>
            <p:cNvSpPr/>
            <p:nvPr/>
          </p:nvSpPr>
          <p:spPr>
            <a:xfrm>
              <a:off x="8858250" y="1333500"/>
              <a:ext cx="2571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55528" y="1541145"/>
              <a:ext cx="777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1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HARDWARE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97759" y="1820228"/>
              <a:ext cx="6927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95%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4247" y="2245995"/>
              <a:ext cx="479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Servers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27622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3148" y="3005614"/>
            <a:ext cx="24811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Hardware Price Distribution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291" y="3410902"/>
            <a:ext cx="27116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Min </a:t>
            </a:r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$2.7K</a:t>
            </a:r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 · P25 </a:t>
            </a:r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$14.5K</a:t>
            </a:r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 · Median </a:t>
            </a:r>
            <a:r>
              <a:rPr lang="en-US" sz="10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$29K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291" y="3696652"/>
            <a:ext cx="15847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P75 </a:t>
            </a:r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$55.6K</a:t>
            </a:r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 · Max </a:t>
            </a:r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$1M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9625" y="4048125"/>
            <a:ext cx="4953000" cy="952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09625" y="4048125"/>
            <a:ext cx="1714500" cy="9525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280023" y="3005614"/>
            <a:ext cx="17159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Customer Verticals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689253" y="3352800"/>
            <a:ext cx="4011346" cy="237839"/>
            <a:chOff x="6689253" y="3352800"/>
            <a:chExt cx="4011346" cy="237839"/>
          </a:xfrm>
        </p:grpSpPr>
        <p:sp>
          <p:nvSpPr>
            <p:cNvPr id="31" name="TextBox 31"/>
            <p:cNvSpPr txBox="1"/>
            <p:nvPr/>
          </p:nvSpPr>
          <p:spPr>
            <a:xfrm>
              <a:off x="6689253" y="3399949"/>
              <a:ext cx="316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PS&amp;T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96125" y="335280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96125" y="3352800"/>
              <a:ext cx="1857375" cy="209550"/>
            </a:xfrm>
            <a:prstGeom prst="roundRect">
              <a:avLst>
                <a:gd name="adj" fmla="val 18182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82047" y="339994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19.5%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65920" y="3714750"/>
            <a:ext cx="3934679" cy="237839"/>
            <a:chOff x="6765920" y="3714750"/>
            <a:chExt cx="3934679" cy="237839"/>
          </a:xfrm>
        </p:grpSpPr>
        <p:sp>
          <p:nvSpPr>
            <p:cNvPr id="36" name="TextBox 36"/>
            <p:cNvSpPr txBox="1"/>
            <p:nvPr/>
          </p:nvSpPr>
          <p:spPr>
            <a:xfrm>
              <a:off x="6765920" y="3761899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EDU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96125" y="37147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96125" y="3714750"/>
              <a:ext cx="1333500" cy="209550"/>
            </a:xfrm>
            <a:prstGeom prst="roundRect">
              <a:avLst>
                <a:gd name="adj" fmla="val 18182"/>
              </a:avLst>
            </a:prstGeom>
            <a:solidFill>
              <a:srgbClr val="4338C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82047" y="376189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14.0%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38041" y="4076700"/>
            <a:ext cx="3962558" cy="237839"/>
            <a:chOff x="6738041" y="4076700"/>
            <a:chExt cx="3962558" cy="237839"/>
          </a:xfrm>
        </p:grpSpPr>
        <p:sp>
          <p:nvSpPr>
            <p:cNvPr id="41" name="TextBox 41"/>
            <p:cNvSpPr txBox="1"/>
            <p:nvPr/>
          </p:nvSpPr>
          <p:spPr>
            <a:xfrm>
              <a:off x="6738041" y="4123849"/>
              <a:ext cx="267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MFG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96125" y="407670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96125" y="4076700"/>
              <a:ext cx="1219200" cy="209550"/>
            </a:xfrm>
            <a:prstGeom prst="roundRect">
              <a:avLst>
                <a:gd name="adj" fmla="val 18182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82047" y="412384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12.8%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23040" y="4438650"/>
            <a:ext cx="4077559" cy="237839"/>
            <a:chOff x="6623040" y="4438650"/>
            <a:chExt cx="4077559" cy="237839"/>
          </a:xfrm>
        </p:grpSpPr>
        <p:sp>
          <p:nvSpPr>
            <p:cNvPr id="46" name="TextBox 46"/>
            <p:cNvSpPr txBox="1"/>
            <p:nvPr/>
          </p:nvSpPr>
          <p:spPr>
            <a:xfrm>
              <a:off x="6623040" y="4485799"/>
              <a:ext cx="382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Retail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096125" y="44386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96125" y="4438650"/>
              <a:ext cx="1133475" cy="209550"/>
            </a:xfrm>
            <a:prstGeom prst="roundRect">
              <a:avLst>
                <a:gd name="adj" fmla="val 18182"/>
              </a:avLst>
            </a:prstGeom>
            <a:solidFill>
              <a:srgbClr val="818C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82047" y="448579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11.9%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623040" y="4800600"/>
            <a:ext cx="4001371" cy="237839"/>
            <a:chOff x="6623040" y="4800600"/>
            <a:chExt cx="4001371" cy="237839"/>
          </a:xfrm>
        </p:grpSpPr>
        <p:sp>
          <p:nvSpPr>
            <p:cNvPr id="51" name="TextBox 51"/>
            <p:cNvSpPr txBox="1"/>
            <p:nvPr/>
          </p:nvSpPr>
          <p:spPr>
            <a:xfrm>
              <a:off x="6623040" y="4847749"/>
              <a:ext cx="382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Public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096125" y="480060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96125" y="4800600"/>
              <a:ext cx="933450" cy="209550"/>
            </a:xfrm>
            <a:prstGeom prst="roundRect">
              <a:avLst>
                <a:gd name="adj" fmla="val 18182"/>
              </a:avLst>
            </a:prstGeom>
            <a:solidFill>
              <a:srgbClr val="A5B4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282047" y="4847749"/>
              <a:ext cx="3423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9.8%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02330" y="5162550"/>
            <a:ext cx="4098269" cy="237839"/>
            <a:chOff x="6602330" y="5162550"/>
            <a:chExt cx="4098269" cy="237839"/>
          </a:xfrm>
        </p:grpSpPr>
        <p:sp>
          <p:nvSpPr>
            <p:cNvPr id="56" name="TextBox 56"/>
            <p:cNvSpPr txBox="1"/>
            <p:nvPr/>
          </p:nvSpPr>
          <p:spPr>
            <a:xfrm>
              <a:off x="6602330" y="5209699"/>
              <a:ext cx="403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374151"/>
                  </a:solidFill>
                  <a:latin typeface="Arial"/>
                  <a:ea typeface="Arial"/>
                  <a:cs typeface="Arial"/>
                </a:rPr>
                <a:t>Other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96125" y="51625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96125" y="5162550"/>
              <a:ext cx="3048000" cy="209550"/>
            </a:xfrm>
            <a:prstGeom prst="roundRect">
              <a:avLst>
                <a:gd name="adj" fmla="val 18182"/>
              </a:avLst>
            </a:prstGeom>
            <a:solidFill>
              <a:srgbClr val="C7D2F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282047" y="520969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32.0%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72452"/>
            <a:ext cx="3409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02 · VALIDATION 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213" y="886301"/>
            <a:ext cx="1022357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The model aced the blind exam; production is the real-world job interview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1500" y="1381125"/>
            <a:ext cx="3524250" cy="1476375"/>
            <a:chOff x="571500" y="1381125"/>
            <a:chExt cx="3524250" cy="1476375"/>
          </a:xfrm>
        </p:grpSpPr>
        <p:sp>
          <p:nvSpPr>
            <p:cNvPr id="4" name="Rectangle 4"/>
            <p:cNvSpPr/>
            <p:nvPr/>
          </p:nvSpPr>
          <p:spPr>
            <a:xfrm>
              <a:off x="571500" y="1381125"/>
              <a:ext cx="3524250" cy="147637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38112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6B728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48871" y="1648778"/>
              <a:ext cx="969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Training Data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08346" y="1948815"/>
              <a:ext cx="1650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The Textbook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28766" y="2371249"/>
              <a:ext cx="100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Historical deals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15209" y="2561749"/>
              <a:ext cx="1236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model studied from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33875" y="1381125"/>
            <a:ext cx="3524250" cy="1476375"/>
            <a:chOff x="4333875" y="1381125"/>
            <a:chExt cx="3524250" cy="1476375"/>
          </a:xfrm>
        </p:grpSpPr>
        <p:sp>
          <p:nvSpPr>
            <p:cNvPr id="11" name="Rectangle 11"/>
            <p:cNvSpPr/>
            <p:nvPr/>
          </p:nvSpPr>
          <p:spPr>
            <a:xfrm>
              <a:off x="4333875" y="1381125"/>
              <a:ext cx="3524250" cy="1476375"/>
            </a:xfrm>
            <a:prstGeom prst="roundRect">
              <a:avLst>
                <a:gd name="adj" fmla="val 6452"/>
              </a:avLst>
            </a:prstGeom>
            <a:solidFill>
              <a:srgbClr val="F0F4FF"/>
            </a:solidFill>
            <a:ln w="19050">
              <a:solidFill>
                <a:srgbClr val="1A237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33875" y="138112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6652" y="1648778"/>
              <a:ext cx="12186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Validation (POC)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24517" y="1948815"/>
              <a:ext cx="1142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A237E"/>
                  </a:solidFill>
                  <a:latin typeface="Arial"/>
                  <a:ea typeface="Arial"/>
                  <a:cs typeface="Arial"/>
                </a:rPr>
                <a:t>The Exam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63337" y="23712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2,296 contracts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8216" y="2561749"/>
              <a:ext cx="1355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model has never seen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96250" y="1381125"/>
            <a:ext cx="3524250" cy="1476375"/>
            <a:chOff x="8096250" y="1381125"/>
            <a:chExt cx="3524250" cy="1476375"/>
          </a:xfrm>
        </p:grpSpPr>
        <p:sp>
          <p:nvSpPr>
            <p:cNvPr id="18" name="Rectangle 18"/>
            <p:cNvSpPr/>
            <p:nvPr/>
          </p:nvSpPr>
          <p:spPr>
            <a:xfrm>
              <a:off x="8096250" y="1381125"/>
              <a:ext cx="3524250" cy="147637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96250" y="138112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9CA3A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61237" y="1648778"/>
              <a:ext cx="7942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Production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2613" y="1948815"/>
              <a:ext cx="9515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The Job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44534" y="2371249"/>
              <a:ext cx="1227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Live sellers accept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87323" y="256174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or override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571500" y="3048000"/>
            <a:ext cx="11049000" cy="590550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048000"/>
            <a:ext cx="47625" cy="59055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5335" y="3164681"/>
            <a:ext cx="23833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Three production differences: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5716" y="3391852"/>
            <a:ext cx="8258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① Seller behaviour not in validation. ② Product mix drifts over time. ③ Seller override rate is the ongoing quality proxy.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857625"/>
            <a:ext cx="1104900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4314825"/>
            <a:ext cx="11049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4772025"/>
            <a:ext cx="11049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229225"/>
            <a:ext cx="11049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322702" y="4020502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77152" y="4020502"/>
            <a:ext cx="12186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Validation (POC)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56362" y="4020502"/>
            <a:ext cx="7942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666" y="4477702"/>
            <a:ext cx="14220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Model has seen this?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95351" y="4477702"/>
            <a:ext cx="248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43346" y="4477702"/>
            <a:ext cx="6863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Blind test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96122" y="4477702"/>
            <a:ext cx="714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Real world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6666" y="4934902"/>
            <a:ext cx="7437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Measures…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77051" y="4934902"/>
            <a:ext cx="8848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Can it learn?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28651" y="4934902"/>
            <a:ext cx="13156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Does it generalise?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16780" y="4934902"/>
            <a:ext cx="12734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Do sellers accept?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6666" y="5392102"/>
            <a:ext cx="90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Who decides?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90951" y="539210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57951" y="539210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93455" y="5392102"/>
            <a:ext cx="7200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The seller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619500" y="3857625"/>
            <a:ext cx="9525" cy="18288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286500" y="3857625"/>
            <a:ext cx="9525" cy="18288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953500" y="3857625"/>
            <a:ext cx="9525" cy="18288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72452"/>
            <a:ext cx="52921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03 · VALIDATED — CONSISTENT ACROSS SEGMENTS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213" y="886301"/>
            <a:ext cx="10477387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Channel, segment, country — all within ±3pp. The model generalises evenly.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71500" y="1428750"/>
            <a:ext cx="2571750" cy="1095375"/>
            <a:chOff x="571500" y="1428750"/>
            <a:chExt cx="2571750" cy="1095375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2571750" cy="1095375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05966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19533" y="1617345"/>
              <a:ext cx="1075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INDIRECT · SMB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44800" y="1884045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86.0%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67980" y="22840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1,144 contracts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33750" y="1428750"/>
            <a:ext cx="2571750" cy="1095375"/>
            <a:chOff x="3333750" y="1428750"/>
            <a:chExt cx="2571750" cy="1095375"/>
          </a:xfrm>
        </p:grpSpPr>
        <p:sp>
          <p:nvSpPr>
            <p:cNvPr id="9" name="Rectangle 9"/>
            <p:cNvSpPr/>
            <p:nvPr/>
          </p:nvSpPr>
          <p:spPr>
            <a:xfrm>
              <a:off x="3333750" y="1428750"/>
              <a:ext cx="2571750" cy="1095375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05966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068341" y="1617345"/>
              <a:ext cx="1102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INDIRECT · COM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07050" y="1884045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84.4%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96867" y="2284095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941 contracts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714625"/>
            <a:ext cx="2571750" cy="1095375"/>
            <a:chOff x="571500" y="2714625"/>
            <a:chExt cx="2571750" cy="1095375"/>
          </a:xfrm>
        </p:grpSpPr>
        <p:sp>
          <p:nvSpPr>
            <p:cNvPr id="14" name="Rectangle 14"/>
            <p:cNvSpPr/>
            <p:nvPr/>
          </p:nvSpPr>
          <p:spPr>
            <a:xfrm>
              <a:off x="571500" y="2714625"/>
              <a:ext cx="2571750" cy="1095375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05966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3886" y="2903220"/>
              <a:ext cx="9669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DIRECT · COM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44800" y="31699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83.3%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34617" y="3569970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198 contracts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33750" y="2714625"/>
            <a:ext cx="2571750" cy="1095375"/>
            <a:chOff x="3333750" y="2714625"/>
            <a:chExt cx="2571750" cy="1095375"/>
          </a:xfrm>
        </p:grpSpPr>
        <p:sp>
          <p:nvSpPr>
            <p:cNvPr id="19" name="Rectangle 19"/>
            <p:cNvSpPr/>
            <p:nvPr/>
          </p:nvSpPr>
          <p:spPr>
            <a:xfrm>
              <a:off x="3333750" y="2714625"/>
              <a:ext cx="2571750" cy="1095375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05966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88516" y="2903220"/>
              <a:ext cx="8622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spc="75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US · CANADA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1604" y="3169920"/>
              <a:ext cx="24160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84.7% · 87.0%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2067" y="3569970"/>
              <a:ext cx="113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Δ 2.3pp — negligible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280023" y="1481614"/>
            <a:ext cx="261899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Top-1 Match Rate by Segment</a:t>
            </a:r>
          </a:p>
        </p:txBody>
      </p:sp>
      <p:sp>
        <p:nvSpPr>
          <p:cNvPr id="25" name="Line 25"/>
          <p:cNvSpPr/>
          <p:nvPr/>
        </p:nvSpPr>
        <p:spPr>
          <a:xfrm>
            <a:off x="6286500" y="40957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2E5EA"/>
            </a:solidFill>
          </a:ln>
        </p:spPr>
      </p:sp>
      <p:sp>
        <p:nvSpPr>
          <p:cNvPr id="26" name="Line 26"/>
          <p:cNvSpPr/>
          <p:nvPr/>
        </p:nvSpPr>
        <p:spPr>
          <a:xfrm>
            <a:off x="6286500" y="180975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9525">
            <a:solidFill>
              <a:srgbClr val="E2E5EA"/>
            </a:solidFill>
          </a:ln>
        </p:spPr>
      </p:sp>
      <p:sp>
        <p:nvSpPr>
          <p:cNvPr id="27" name="Line 27"/>
          <p:cNvSpPr/>
          <p:nvPr/>
        </p:nvSpPr>
        <p:spPr>
          <a:xfrm>
            <a:off x="6286500" y="18097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8" name="Line 28"/>
          <p:cNvSpPr/>
          <p:nvPr/>
        </p:nvSpPr>
        <p:spPr>
          <a:xfrm>
            <a:off x="6286500" y="25717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9" name="Line 29"/>
          <p:cNvSpPr/>
          <p:nvPr/>
        </p:nvSpPr>
        <p:spPr>
          <a:xfrm>
            <a:off x="6286500" y="33337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30" name="TextBox 30"/>
          <p:cNvSpPr txBox="1"/>
          <p:nvPr/>
        </p:nvSpPr>
        <p:spPr>
          <a:xfrm>
            <a:off x="5982269" y="1758791"/>
            <a:ext cx="2137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82269" y="2520791"/>
            <a:ext cx="2137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82269" y="3282791"/>
            <a:ext cx="2137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83%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82269" y="4044791"/>
            <a:ext cx="2137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953250" y="1955006"/>
            <a:ext cx="666750" cy="2435733"/>
            <a:chOff x="6953250" y="1955006"/>
            <a:chExt cx="666750" cy="2435733"/>
          </a:xfrm>
        </p:grpSpPr>
        <p:sp>
          <p:nvSpPr>
            <p:cNvPr id="34" name="Rectangle 34"/>
            <p:cNvSpPr/>
            <p:nvPr/>
          </p:nvSpPr>
          <p:spPr>
            <a:xfrm>
              <a:off x="6953250" y="2152650"/>
              <a:ext cx="666750" cy="1943100"/>
            </a:xfrm>
            <a:prstGeom prst="roundRect">
              <a:avLst>
                <a:gd name="adj" fmla="val 5714"/>
              </a:avLst>
            </a:prstGeom>
            <a:solidFill>
              <a:srgbClr val="059669">
                <a:alpha val="8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34470" y="195500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86%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52731" y="4200049"/>
              <a:ext cx="267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SMB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2526506"/>
            <a:ext cx="666750" cy="1864233"/>
            <a:chOff x="8096250" y="2526506"/>
            <a:chExt cx="666750" cy="1864233"/>
          </a:xfrm>
        </p:grpSpPr>
        <p:sp>
          <p:nvSpPr>
            <p:cNvPr id="38" name="Rectangle 38"/>
            <p:cNvSpPr/>
            <p:nvPr/>
          </p:nvSpPr>
          <p:spPr>
            <a:xfrm>
              <a:off x="8096250" y="2724150"/>
              <a:ext cx="666750" cy="1371600"/>
            </a:xfrm>
            <a:prstGeom prst="roundRect">
              <a:avLst>
                <a:gd name="adj" fmla="val 5714"/>
              </a:avLst>
            </a:prstGeom>
            <a:solidFill>
              <a:srgbClr val="059669">
                <a:alpha val="8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90398" y="252650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84.4%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1792" y="4200049"/>
              <a:ext cx="295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COM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239250" y="2907506"/>
            <a:ext cx="666750" cy="1483233"/>
            <a:chOff x="9239250" y="2907506"/>
            <a:chExt cx="666750" cy="1483233"/>
          </a:xfrm>
        </p:grpSpPr>
        <p:sp>
          <p:nvSpPr>
            <p:cNvPr id="42" name="Rectangle 42"/>
            <p:cNvSpPr/>
            <p:nvPr/>
          </p:nvSpPr>
          <p:spPr>
            <a:xfrm>
              <a:off x="9239250" y="3105150"/>
              <a:ext cx="666750" cy="990600"/>
            </a:xfrm>
            <a:prstGeom prst="roundRect">
              <a:avLst>
                <a:gd name="adj" fmla="val 5714"/>
              </a:avLst>
            </a:prstGeom>
            <a:solidFill>
              <a:srgbClr val="059669">
                <a:alpha val="70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33398" y="290750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83.3%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24792" y="4200049"/>
              <a:ext cx="295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COM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82250" y="2107406"/>
            <a:ext cx="666750" cy="2283333"/>
            <a:chOff x="10382250" y="2107406"/>
            <a:chExt cx="666750" cy="2283333"/>
          </a:xfrm>
        </p:grpSpPr>
        <p:sp>
          <p:nvSpPr>
            <p:cNvPr id="46" name="Rectangle 46"/>
            <p:cNvSpPr/>
            <p:nvPr/>
          </p:nvSpPr>
          <p:spPr>
            <a:xfrm>
              <a:off x="10382250" y="2305050"/>
              <a:ext cx="666750" cy="1790700"/>
            </a:xfrm>
            <a:prstGeom prst="roundRect">
              <a:avLst>
                <a:gd name="adj" fmla="val 5714"/>
              </a:avLst>
            </a:prstGeom>
            <a:solidFill>
              <a:srgbClr val="059669">
                <a:alpha val="8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76398" y="2107406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84.7%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19004" y="4200049"/>
              <a:ext cx="393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US·CA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571500" y="53340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571500" y="5334000"/>
            <a:ext cx="47625" cy="66675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75335" y="5479256"/>
            <a:ext cx="382405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Channel, Segment, Country, Hardware Category: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5716" y="5715952"/>
            <a:ext cx="75830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all within 3pp. No geographic bias, no GTM bias. These dimensions are production-ready without modification.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72452"/>
            <a:ext cx="35856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04 · ADJUSTMENTS RECOMMENDED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594" y="894398"/>
            <a:ext cx="889092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The model is net-conservative — 3 adjustments fix coverage levels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333500"/>
            <a:ext cx="11049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75716" y="1439228"/>
            <a:ext cx="96021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When wrong, it leans conservative — </a:t>
            </a:r>
            <a:r>
              <a:rPr lang="en-US" sz="10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36.2% of misses cheaper/shorter</a:t>
            </a:r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 xml:space="preserve"> vs </a:t>
            </a:r>
            <a:r>
              <a:rPr lang="en-US" sz="105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28.2% pricier/longer</a:t>
            </a:r>
            <a:r>
              <a:rPr lang="en-US" sz="105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. Downgrades stay possible, so low-risk.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2047875"/>
            <a:ext cx="3524250" cy="3143250"/>
            <a:chOff x="571500" y="2047875"/>
            <a:chExt cx="3524250" cy="3143250"/>
          </a:xfrm>
        </p:grpSpPr>
        <p:sp>
          <p:nvSpPr>
            <p:cNvPr id="6" name="Rectangle 6"/>
            <p:cNvSpPr/>
            <p:nvPr/>
          </p:nvSpPr>
          <p:spPr>
            <a:xfrm>
              <a:off x="571500" y="2047875"/>
              <a:ext cx="352425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2238375"/>
              <a:ext cx="381000" cy="247650"/>
            </a:xfrm>
            <a:prstGeom prst="roundRect">
              <a:avLst>
                <a:gd name="adj" fmla="val 23077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0915" y="2296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DC2626"/>
                  </a:solidFill>
                  <a:latin typeface="Arial"/>
                  <a:ea typeface="Arial"/>
                  <a:cs typeface="Arial"/>
                </a:rPr>
                <a:t>P0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011" y="2265521"/>
              <a:ext cx="15745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① Term Duration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2704624"/>
              <a:ext cx="26022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76 contracts got shorter coverage than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885599"/>
              <a:ext cx="26286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purchased. 46.8% of all errors are term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3066574"/>
              <a:ext cx="2015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mix-ups — the #1 error source.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3429000"/>
              <a:ext cx="3143250" cy="476250"/>
            </a:xfrm>
            <a:prstGeom prst="roundRect">
              <a:avLst>
                <a:gd name="adj" fmla="val 12000"/>
              </a:avLst>
            </a:prstGeom>
            <a:solidFill>
              <a:srgbClr val="F9FAFB"/>
            </a:solidFill>
            <a:ln w="9525">
              <a:solidFill>
                <a:srgbClr val="E2E5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9922" y="3609499"/>
              <a:ext cx="8469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✗ Keep as-is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000500"/>
              <a:ext cx="3143250" cy="685800"/>
            </a:xfrm>
            <a:prstGeom prst="roundRect">
              <a:avLst>
                <a:gd name="adj" fmla="val 8333"/>
              </a:avLst>
            </a:prstGeom>
            <a:solidFill>
              <a:srgbClr val="F0FDF4"/>
            </a:solidFill>
            <a:ln w="14288">
              <a:solidFill>
                <a:srgbClr val="05966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9541" y="4134802"/>
              <a:ext cx="18490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✓ Default to longer term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922" y="4352449"/>
              <a:ext cx="25800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Seller retains full control to downgrade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33875" y="2047875"/>
            <a:ext cx="3524250" cy="3143250"/>
            <a:chOff x="4333875" y="2047875"/>
            <a:chExt cx="3524250" cy="3143250"/>
          </a:xfrm>
        </p:grpSpPr>
        <p:sp>
          <p:nvSpPr>
            <p:cNvPr id="19" name="Rectangle 19"/>
            <p:cNvSpPr/>
            <p:nvPr/>
          </p:nvSpPr>
          <p:spPr>
            <a:xfrm>
              <a:off x="4333875" y="2047875"/>
              <a:ext cx="352425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2238375"/>
              <a:ext cx="381000" cy="247650"/>
            </a:xfrm>
            <a:prstGeom prst="roundRect">
              <a:avLst>
                <a:gd name="adj" fmla="val 23077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3290" y="2296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DC2626"/>
                  </a:solidFill>
                  <a:latin typeface="Arial"/>
                  <a:ea typeface="Arial"/>
                  <a:cs typeface="Arial"/>
                </a:rPr>
                <a:t>P0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3386" y="2265521"/>
              <a:ext cx="1269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② PSP Server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422" y="2704624"/>
              <a:ext cx="2328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31 of 162 PSP Server customers got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9422" y="2885599"/>
              <a:ext cx="2526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Premier instead. Only 7.1% of training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9422" y="3066574"/>
              <a:ext cx="2298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data is PSP — class imbalance drives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9422" y="3247549"/>
              <a:ext cx="16194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conservative defaulting.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24375" y="3429000"/>
              <a:ext cx="3143250" cy="476250"/>
            </a:xfrm>
            <a:prstGeom prst="roundRect">
              <a:avLst>
                <a:gd name="adj" fmla="val 12000"/>
              </a:avLst>
            </a:prstGeom>
            <a:solidFill>
              <a:srgbClr val="F9FAFB"/>
            </a:solidFill>
            <a:ln w="9525">
              <a:solidFill>
                <a:srgbClr val="E2E5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62297" y="3609499"/>
              <a:ext cx="7738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✗ Data only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24375" y="4000500"/>
              <a:ext cx="3143250" cy="685800"/>
            </a:xfrm>
            <a:prstGeom prst="roundRect">
              <a:avLst>
                <a:gd name="adj" fmla="val 8333"/>
              </a:avLst>
            </a:prstGeom>
            <a:solidFill>
              <a:srgbClr val="F0FDF4"/>
            </a:solidFill>
            <a:ln w="14288">
              <a:solidFill>
                <a:srgbClr val="05966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1916" y="4287202"/>
              <a:ext cx="1305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✓ Data + PSP bias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96250" y="2047875"/>
            <a:ext cx="3524250" cy="3143250"/>
            <a:chOff x="8096250" y="2047875"/>
            <a:chExt cx="3524250" cy="3143250"/>
          </a:xfrm>
        </p:grpSpPr>
        <p:sp>
          <p:nvSpPr>
            <p:cNvPr id="32" name="Rectangle 32"/>
            <p:cNvSpPr/>
            <p:nvPr/>
          </p:nvSpPr>
          <p:spPr>
            <a:xfrm>
              <a:off x="8096250" y="2047875"/>
              <a:ext cx="352425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rgbClr val="E2E5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286750" y="2238375"/>
              <a:ext cx="381000" cy="247650"/>
            </a:xfrm>
            <a:prstGeom prst="roundRect">
              <a:avLst>
                <a:gd name="adj" fmla="val 23077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85665" y="2296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D97706"/>
                  </a:solidFill>
                  <a:latin typeface="Arial"/>
                  <a:ea typeface="Arial"/>
                  <a:cs typeface="Arial"/>
                </a:rPr>
                <a:t>P1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5761" y="2265521"/>
              <a:ext cx="1744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D27"/>
                  </a:solidFill>
                  <a:latin typeface="Arial"/>
                  <a:ea typeface="Arial"/>
                  <a:cs typeface="Arial"/>
                </a:rPr>
                <a:t>③ Overall Posture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1797" y="2704624"/>
              <a:ext cx="2594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Current miss ratio: 36.2% conservative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797" y="2885599"/>
              <a:ext cx="2529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vs 28.2% aggressive. A 3:2 tilt toward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797" y="3066574"/>
              <a:ext cx="2107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cheaper recommendations leaves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797" y="3247549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revenue on the table.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86750" y="3429000"/>
              <a:ext cx="3143250" cy="476250"/>
            </a:xfrm>
            <a:prstGeom prst="roundRect">
              <a:avLst>
                <a:gd name="adj" fmla="val 12000"/>
              </a:avLst>
            </a:prstGeom>
            <a:solidFill>
              <a:srgbClr val="F9FAFB"/>
            </a:solidFill>
            <a:ln w="9525">
              <a:solidFill>
                <a:srgbClr val="E2E5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4672" y="3609499"/>
              <a:ext cx="886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✗ Keep 36:28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86750" y="4000500"/>
              <a:ext cx="3143250" cy="685800"/>
            </a:xfrm>
            <a:prstGeom prst="roundRect">
              <a:avLst>
                <a:gd name="adj" fmla="val 8333"/>
              </a:avLst>
            </a:prstGeom>
            <a:solidFill>
              <a:srgbClr val="F0FDF4"/>
            </a:solidFill>
            <a:ln w="14288">
              <a:solidFill>
                <a:srgbClr val="05966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24291" y="4134802"/>
              <a:ext cx="1162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✓ Shift to ~1:1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4672" y="4352449"/>
              <a:ext cx="1718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Test threshold in A/B pilot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72452"/>
            <a:ext cx="2002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05 · SLA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594" y="894398"/>
            <a:ext cx="983542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SLA confusion is symmetric (51:57) — the model can't tell 24×7 from NBD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428750"/>
            <a:ext cx="5715000" cy="409575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802005" y="1666875"/>
            <a:ext cx="32066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SLA Tier: Symmetric Confusion</a:t>
            </a:r>
          </a:p>
        </p:txBody>
      </p:sp>
      <p:sp>
        <p:nvSpPr>
          <p:cNvPr id="6" name="Rectangle 6"/>
          <p:cNvSpPr/>
          <p:nvPr/>
        </p:nvSpPr>
        <p:spPr>
          <a:xfrm>
            <a:off x="3429000" y="1638300"/>
            <a:ext cx="1714500" cy="2476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486508" y="1712595"/>
            <a:ext cx="15994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spc="75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FEATURE ENHANCEMENT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809625" y="20955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1832" y="2259330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6291" y="2325052"/>
            <a:ext cx="12492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24×7 → NBD errors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76625" y="2095500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608832" y="2259330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33291" y="2325052"/>
            <a:ext cx="12492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NBD → 24×7 errors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291" y="3029902"/>
            <a:ext cx="594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Finding: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4672" y="3247549"/>
            <a:ext cx="4076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Nearly balanced (51:57). The model is not biased toward either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4672" y="3428524"/>
            <a:ext cx="33280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SLA tier — it simply cannot tell them apart reliably.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4291" y="3791902"/>
            <a:ext cx="1262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Recommendation: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672" y="4009549"/>
            <a:ext cx="42009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Do not apply directional tuning. Instead, add stronger features: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4190524"/>
            <a:ext cx="40666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hardware criticality scoring and customer industry vertical 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672" y="4371499"/>
            <a:ext cx="24042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help the model distinguish SLA needs.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4291" y="4696778"/>
            <a:ext cx="675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Priority: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672" y="4914424"/>
            <a:ext cx="31990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P2 — address after P0 adjustments are validated.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5392" y="1616392"/>
            <a:ext cx="13066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SLA Confusion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916" y="1886902"/>
            <a:ext cx="13540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1050" b="1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Δ 6 — Symmetric ✓</a:t>
            </a:r>
          </a:p>
        </p:txBody>
      </p:sp>
      <p:sp>
        <p:nvSpPr>
          <p:cNvPr id="25" name="Line 25"/>
          <p:cNvSpPr/>
          <p:nvPr/>
        </p:nvSpPr>
        <p:spPr>
          <a:xfrm>
            <a:off x="6572250" y="476250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E2E5EA"/>
            </a:solidFill>
          </a:ln>
        </p:spPr>
      </p:sp>
      <p:sp>
        <p:nvSpPr>
          <p:cNvPr id="26" name="Line 26"/>
          <p:cNvSpPr/>
          <p:nvPr/>
        </p:nvSpPr>
        <p:spPr>
          <a:xfrm>
            <a:off x="6572250" y="2286000"/>
            <a:ext cx="9525" cy="2476500"/>
          </a:xfrm>
          <a:custGeom>
            <a:avLst/>
            <a:gdLst/>
            <a:ahLst/>
            <a:cxnLst/>
            <a:rect l="l" t="t" r="r" b="b"/>
            <a:pathLst>
              <a:path w="9525" h="2476500">
                <a:moveTo>
                  <a:pt x="0" y="0"/>
                </a:moveTo>
                <a:lnTo>
                  <a:pt x="0" y="2476500"/>
                </a:lnTo>
              </a:path>
            </a:pathLst>
          </a:custGeom>
          <a:noFill/>
          <a:ln w="9525">
            <a:solidFill>
              <a:srgbClr val="E2E5EA"/>
            </a:solidFill>
          </a:ln>
        </p:spPr>
      </p:sp>
      <p:sp>
        <p:nvSpPr>
          <p:cNvPr id="27" name="Line 27"/>
          <p:cNvSpPr/>
          <p:nvPr/>
        </p:nvSpPr>
        <p:spPr>
          <a:xfrm>
            <a:off x="6572250" y="228600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8" name="Line 28"/>
          <p:cNvSpPr/>
          <p:nvPr/>
        </p:nvSpPr>
        <p:spPr>
          <a:xfrm>
            <a:off x="6572250" y="3114675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9" name="Line 29"/>
          <p:cNvSpPr/>
          <p:nvPr/>
        </p:nvSpPr>
        <p:spPr>
          <a:xfrm>
            <a:off x="6572250" y="3933825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30" name="TextBox 30"/>
          <p:cNvSpPr txBox="1"/>
          <p:nvPr/>
        </p:nvSpPr>
        <p:spPr>
          <a:xfrm>
            <a:off x="6369860" y="223504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69860" y="306371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69860" y="3882866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30574" y="4711541"/>
            <a:ext cx="702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239000" y="2667000"/>
            <a:ext cx="857250" cy="2095500"/>
          </a:xfrm>
          <a:prstGeom prst="roundRect">
            <a:avLst>
              <a:gd name="adj" fmla="val 4444"/>
            </a:avLst>
          </a:prstGeom>
          <a:solidFill>
            <a:srgbClr val="2563EB">
              <a:alpha val="7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43390" y="23907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56003" y="4895374"/>
            <a:ext cx="6232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24×7→NBD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906000" y="2428875"/>
            <a:ext cx="857250" cy="2333625"/>
          </a:xfrm>
          <a:prstGeom prst="roundRect">
            <a:avLst>
              <a:gd name="adj" fmla="val 4444"/>
            </a:avLst>
          </a:prstGeom>
          <a:solidFill>
            <a:srgbClr val="DC2626">
              <a:alpha val="75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210390" y="215265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23003" y="4895374"/>
            <a:ext cx="6232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NBD→24×7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6166" y="515302"/>
            <a:ext cx="3827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30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06 · SUMMARY &amp;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1975" y="826294"/>
            <a:ext cx="11283245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One finding stands above all others: 46.8% of errors are term mix-ups — fix this first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1190625"/>
            <a:ext cx="11049000" cy="323850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09422" y="1294924"/>
            <a:ext cx="6580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01180" y="1294924"/>
            <a:ext cx="4363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76422" y="1294924"/>
            <a:ext cx="4777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33922" y="1294924"/>
            <a:ext cx="11017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75047" y="1294924"/>
            <a:ext cx="904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3922" y="1294924"/>
            <a:ext cx="11200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5144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09422" y="1637824"/>
            <a:ext cx="9677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Term Duration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54475" y="1645920"/>
            <a:ext cx="9298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↓ Conservative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76612" y="1607820"/>
            <a:ext cx="22679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76 contracts downgraded from 60M 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6612" y="1779270"/>
            <a:ext cx="1549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36M. 46.8% of all errors.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112" y="1607820"/>
            <a:ext cx="2351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Default to longer term when confidence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34112" y="1779270"/>
            <a:ext cx="24669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below threshold. Seller retains override.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429750" y="16383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534796" y="1694974"/>
            <a:ext cx="1709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4112" y="1684020"/>
            <a:ext cx="16144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↑ Revenue ~3.3% contracts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0478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09422" y="2171224"/>
            <a:ext cx="7554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PSP Server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54475" y="2179320"/>
            <a:ext cx="9298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↓ Conservative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76612" y="2141220"/>
            <a:ext cx="22247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31/162 PSP customers under-served.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76612" y="2312670"/>
            <a:ext cx="21285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Driven by 7.1% training data share.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4112" y="2141220"/>
            <a:ext cx="220072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Augment PSP training samples + apply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34112" y="2312670"/>
            <a:ext cx="24877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modest PSP preference when gap is small.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29750" y="21717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534796" y="2228374"/>
            <a:ext cx="1709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44112" y="2217420"/>
            <a:ext cx="17066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↑ PSP attach on server deals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5812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09422" y="2704624"/>
            <a:ext cx="10851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Overall Posture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86667" y="2712720"/>
            <a:ext cx="10654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C2626"/>
                </a:solidFill>
                <a:latin typeface="Arial"/>
                <a:ea typeface="Arial"/>
                <a:cs typeface="Arial"/>
              </a:rPr>
              <a:t>3:2 conservative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76612" y="2674620"/>
            <a:ext cx="24750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36.2% conservative vs 28.2% aggressive.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76612" y="2846070"/>
            <a:ext cx="25639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Model systematically recommends cheaper.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34112" y="2674620"/>
            <a:ext cx="21638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Apply small global bias adjustment to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34112" y="2846070"/>
            <a:ext cx="23903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balance. Validate threshold in A/B pilot.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429750" y="27051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34796" y="2761774"/>
            <a:ext cx="1709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44112" y="2750820"/>
            <a:ext cx="16311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↑ Coverage across all types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1146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09422" y="3238024"/>
            <a:ext cx="5676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SLA Tier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83772" y="3246120"/>
            <a:ext cx="4712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76612" y="3208020"/>
            <a:ext cx="24786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Symmetric 51:57 confusion. Model cannot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376612" y="3379470"/>
            <a:ext cx="20817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distinguish SLA needs — not biased.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234112" y="3208020"/>
            <a:ext cx="2097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Add hardware criticality + industry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234112" y="3379470"/>
            <a:ext cx="24426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vertical features. No directional tuning.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429750" y="32385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534796" y="3295174"/>
            <a:ext cx="1709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044112" y="3284220"/>
            <a:ext cx="15436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↓ SLA mismatch long-term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6480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09422" y="3771424"/>
            <a:ext cx="5126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Channel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29777" y="3779520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376612" y="3741420"/>
            <a:ext cx="21641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83–86% flat across Indirect/Direct.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76612" y="3912870"/>
            <a:ext cx="4864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No bias.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234112" y="3855720"/>
            <a:ext cx="14250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No intervention needed.</a:t>
            </a:r>
          </a:p>
        </p:txBody>
      </p:sp>
      <p:sp>
        <p:nvSpPr>
          <p:cNvPr id="57" name="Rectangle 57"/>
          <p:cNvSpPr/>
          <p:nvPr/>
        </p:nvSpPr>
        <p:spPr>
          <a:xfrm>
            <a:off x="9429750" y="37719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546035" y="3828574"/>
            <a:ext cx="148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44112" y="3855720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4181475"/>
            <a:ext cx="11049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09422" y="4304824"/>
            <a:ext cx="12736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A1D27"/>
                </a:solidFill>
                <a:latin typeface="Arial"/>
                <a:ea typeface="Arial"/>
                <a:cs typeface="Arial"/>
              </a:rPr>
              <a:t>Segment / Country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29777" y="4312920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59669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376612" y="4274820"/>
            <a:ext cx="22747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COM and SMB within 2pp. US vs Canada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376612" y="4446270"/>
            <a:ext cx="12020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l-GR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Δ 2.3pp — negligible.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34112" y="4389120"/>
            <a:ext cx="14250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No intervention needed.</a:t>
            </a:r>
          </a:p>
        </p:txBody>
      </p:sp>
      <p:sp>
        <p:nvSpPr>
          <p:cNvPr id="66" name="Rectangle 66"/>
          <p:cNvSpPr/>
          <p:nvPr/>
        </p:nvSpPr>
        <p:spPr>
          <a:xfrm>
            <a:off x="9429750" y="4305300"/>
            <a:ext cx="381000" cy="2286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546035" y="4361974"/>
            <a:ext cx="148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044112" y="4389120"/>
            <a:ext cx="761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9" name="Rectangle 69"/>
          <p:cNvSpPr/>
          <p:nvPr/>
        </p:nvSpPr>
        <p:spPr>
          <a:xfrm>
            <a:off x="2000250" y="1514475"/>
            <a:ext cx="9525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3238500" y="1514475"/>
            <a:ext cx="9525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6096000" y="1514475"/>
            <a:ext cx="9525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9334500" y="1514475"/>
            <a:ext cx="9525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9906000" y="1514475"/>
            <a:ext cx="9525" cy="3200400"/>
          </a:xfrm>
          <a:prstGeom prst="rect">
            <a:avLst/>
          </a:prstGeom>
          <a:solidFill>
            <a:srgbClr val="E2E5EA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571500" y="495300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803529" y="5156835"/>
            <a:ext cx="17736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Recommended action: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04291" y="5392102"/>
            <a:ext cx="74233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A237E"/>
                </a:solidFill>
                <a:latin typeface="Arial"/>
                <a:ea typeface="Arial"/>
                <a:cs typeface="Arial"/>
              </a:rPr>
              <a:t>Address P0 items first (term duration + PSP data), validate in A/B pilot, then apply P1 posture adjustment</a:t>
            </a:r>
          </a:p>
        </p:txBody>
      </p:sp>
      <p:sp>
        <p:nvSpPr>
          <p:cNvPr id="77" name="Ellipse 77"/>
          <p:cNvSpPr/>
          <p:nvPr/>
        </p:nvSpPr>
        <p:spPr>
          <a:xfrm>
            <a:off x="876300" y="5734050"/>
            <a:ext cx="57150" cy="5715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023747" y="5704999"/>
            <a:ext cx="61097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Term duration fix alone addresses 46.8% of current errors — the single highest-impact change</a:t>
            </a:r>
          </a:p>
        </p:txBody>
      </p:sp>
      <p:sp>
        <p:nvSpPr>
          <p:cNvPr id="79" name="Ellipse 79"/>
          <p:cNvSpPr/>
          <p:nvPr/>
        </p:nvSpPr>
        <p:spPr>
          <a:xfrm>
            <a:off x="876300" y="5972175"/>
            <a:ext cx="57150" cy="5715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23747" y="5943124"/>
            <a:ext cx="73625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Monitor seller override rate in pilot as the primary quality signal — it replaces the blind-test metric in production</a:t>
            </a:r>
          </a:p>
        </p:txBody>
      </p:sp>
      <p:sp>
        <p:nvSpPr>
          <p:cNvPr id="81" name="Ellipse 81"/>
          <p:cNvSpPr/>
          <p:nvPr/>
        </p:nvSpPr>
        <p:spPr>
          <a:xfrm>
            <a:off x="876300" y="6210300"/>
            <a:ext cx="57150" cy="5715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023747" y="6181249"/>
            <a:ext cx="45197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Retrain with production feedback loop after 2–3 quarters of live data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sg-ssr-review">
  <a:themeElements>
    <a:clrScheme name="isg-ssr-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sg-ssr-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sg-ssr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2026-08-13T02:00:08Z</dcterms:created>
  <dcterms:modified xsi:type="dcterms:W3CDTF">2026-08-13T02:00:08Z</dcterms:modified>
  <cp:category/>
  <cp:contentStatus/>
</cp:coreProperties>
</file>