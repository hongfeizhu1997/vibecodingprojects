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GPS Pricing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  <a:latin typeface="Calibri"/>
              </a:rPr>
              <a:t>User Manual — Stage 3: Sales Cost  ·  Stage 4: GVE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Lenovo Global Product Support (GPS) Division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Version 1.0  ·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What's covered in this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 Tool Overview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6543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 Getting Started (Login &amp; Cycles)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 Stage 3 — Uplift Catalogs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64991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 Stage 3 — Uplift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1421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 Stage 3 — SKU Data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 Stage 3 — Run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1266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 Stage 3 — Review &amp; Export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 Stage 4 — Data Import &amp;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66543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9.  Stage 4 — Matrix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1576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10. Stage 4 — GVE Validation (4 Layers)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64991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11. Stage 4 — Resolving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1421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12. Stage 4 — List Price Computation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13. Stage 4 — Submit &amp;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1266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14. Tips, Troubleshooting &amp;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96188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15. Distribution &amp; Installation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19050" cy="475488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Tool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What the GPS Pricing Workbench does and how stages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011680" cy="1371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1
Standard Cost
(Planned)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417320"/>
            <a:ext cx="2011680" cy="1371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2
Forward Adj.
(Planned)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417320"/>
            <a:ext cx="201168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3
Sales Cost
(Built ✓)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417320"/>
            <a:ext cx="2011680" cy="13716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4
GVE Validation
(Built ✓)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417320"/>
            <a:ext cx="2011680" cy="1371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5
List Price
(Planned)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830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830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7830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63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Each stage is a self-contained Flask app (Python 3.12 + SQLite) running on localhost.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30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Stage 3 (port 5003): ingests SKU data, applies uplift rules, outputs sales_cost per SKU.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19709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Stage 4 (port 5004): validates sales cost matrix across tiers, geographies, and time, then computes list prices.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640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Stages share a database in integrated mode via GPS_DB_PATH environment variable.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309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Launch: double-click start.bat in each stage folder  ·  Data: pricing.db (SQLite, no install needed).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Login and Pricing Cycles — common to both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1  Launch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Double-click start.bat in the stage folder (stage3_sales_cost\ or stage4_gve\).
A browser window opens at http://localhost:5003 or http://localhost:5004.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2 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Enter your name on the login screen and click Login.
Sessions are name-based — no password required (internal offline tool).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3  Create a Pricing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Click + New Cycle on the dashboard.
Enter Cycle Name (e.g. FY2026 Support EMEA) and Fiscal Year.
Status starts as Draft. One cycle = one pricing exercise.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4  Open the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4068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Click the cycle card to enter the workspace.
Stage 3 workspace has 5 tabs: SKU Data · Catalogs · Rules · Calculate · Export.
Stage 4 workspace has 5 tabs: Import · Matrix · GVE · List Price ·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3 — Uplift Catalogs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Define which uplift factors apply to a product/geography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512064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What is an Uplift Catalog?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A catalog is a named set of uplift factor dimensions that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0370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apply to a specific Type of Service + GEO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4144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79191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Fields:  Catalog ID · Description · Type of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       GEO · Valid From/To dates ·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9242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Status lifecycle:  Draft → Released → Retired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Draft: editable; not used in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6791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Released: locked; available for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056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Retired: archived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8114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A catalog selects a subset of 18 system-defined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1888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uplift factor dimensions (e.g. SRVTIER, COUNTRY, SRVTERM).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56631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9437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Catalogs are reusable across pricing cycles.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417320"/>
            <a:ext cx="5760720" cy="5120640"/>
          </a:xfrm>
          <a:prstGeom prst="rect">
            <a:avLst/>
          </a:prstGeom>
          <a:solidFill>
            <a:srgbClr val="FDF8E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000"/>
                </a:solidFill>
                <a:latin typeface="Calibri"/>
              </a:rPr>
              <a:t>18 Uplift Factor Dimensions (system-seeded)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011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Territory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67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GEO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4963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COUNTRY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7706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Service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2666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TYPESRV (Type of Service)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25526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SUBTYPESRV (Sub-Type)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5295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856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SRVTIER (Service Tier)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0142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SUBSRVTIER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2428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MT (Machine Type)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171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Service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773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SRVTERM (Term: 1yr/3yr/5yr)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0017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SABTIME (Availability)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303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RSPTIME (Response Time)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5046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SLA /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760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SDTYPE (Delivery Type)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989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ICPS (Premier Svc)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6217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PSTYPE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Included Svcs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6748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ICADP (ADP)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69768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ICKYD (KYD)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72054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ICSBTY (SBTY)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74340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ICISE (ISE)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76626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ICTICRU (TI CRU)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3 — Uplift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Assign factor values and uplift ratios; drive the Sales Cost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61288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0012"/>
                </a:solidFill>
                <a:latin typeface="Calibri"/>
              </a:rPr>
              <a:t>Formula:   Sales Cost  =  PSC  ×  ( 1 + Σ matching factor ratios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5303520" cy="42519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Rule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Rule ID  (unique, e.g. SUPPORTEMEA_01)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998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64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Catalog  (selects available factor set)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0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Type of Service  +  GEO  (match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953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Valid From / To 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Status:  Draft → Released → Retired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25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908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Per factor in the catalog: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560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Allowed Values  (comma-separated)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21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  e.g.  '3yr Base, 5yr Base'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Uplift Ratio  (decimal, e.g. 0.15 = 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515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16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Only Released rules are used in calculation.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819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Edit is blocked once rule is Released.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331720"/>
            <a:ext cx="5943600" cy="425196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423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B22"/>
                </a:solidFill>
                <a:latin typeface="Calibri"/>
              </a:rPr>
              <a:t>Example Rule — SUPPORTEMEA_01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834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Factor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34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Allowed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8346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Uplift Ratio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154680"/>
            <a:ext cx="5760720" cy="365760"/>
          </a:xfrm>
          <a:prstGeom prst="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172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Type of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172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Support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172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B22"/>
                </a:solidFill>
                <a:latin typeface="Calibri"/>
              </a:rPr>
              <a:t>0.05 (5%)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538728"/>
            <a:ext cx="5760720" cy="36576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557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GEO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557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EMEA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3557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B22"/>
                </a:solidFill>
                <a:latin typeface="Calibri"/>
              </a:rPr>
              <a:t>0.03 (3%)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922776"/>
            <a:ext cx="5760720" cy="365760"/>
          </a:xfrm>
          <a:prstGeom prst="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39410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Service 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410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1yr Base, 3yr 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9410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B22"/>
                </a:solidFill>
                <a:latin typeface="Calibri"/>
              </a:rPr>
              <a:t>0.10 (10%)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306824"/>
            <a:ext cx="5760720" cy="36576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4325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Service Term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25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3yr 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43251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B22"/>
                </a:solidFill>
                <a:latin typeface="Calibri"/>
              </a:rPr>
              <a:t>0.05 (5%)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690872"/>
            <a:ext cx="5760720" cy="365760"/>
          </a:xfrm>
          <a:prstGeom prst="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Delivery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Onsite NBD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4709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B22"/>
                </a:solidFill>
                <a:latin typeface="Calibri"/>
              </a:rPr>
              <a:t>0.08 (8%)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1663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SKU with 3yr Base Onsite NBD EMEA Support →  PSC × (1 + 0.05+0.03+0.10+0.05+0.08)  =  PSC × 1.31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3 — SKU Data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Load service part numbers and PSC values into a pricing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Upload Excel (.xlsx)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EEFF"/>
                </a:solidFill>
                <a:latin typeface="Calibri"/>
              </a:rPr>
              <a:t>Reference format with header row.
Auto-parses SKU data, catalogs, and rules from 3 sheets.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417320"/>
            <a:ext cx="365760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Upload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7451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EEFF"/>
                </a:solidFill>
                <a:latin typeface="Calibri"/>
              </a:rPr>
              <a:t>Same column headers as Excel, comma-separated.
Imports SKU data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417320"/>
            <a:ext cx="365760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Paste CSV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187451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EEFF"/>
                </a:solidFill>
                <a:latin typeface="Calibri"/>
              </a:rPr>
              <a:t>Paste CSV text directly in the browser.
Quickest option for small datasets.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926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Required &amp; Key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320040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33756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Excel Column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337560"/>
            <a:ext cx="274320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DB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337560"/>
            <a:ext cx="548640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3375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57600"/>
            <a:ext cx="3200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 PN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657600"/>
            <a:ext cx="27432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service_pn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657600"/>
            <a:ext cx="5486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Required — unique per cycle + country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50208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Type of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950208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950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type_of_service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950208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Required — used to match uplift rule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42816"/>
            <a:ext cx="3200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2428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GEO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4242816"/>
            <a:ext cx="27432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geo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242816"/>
            <a:ext cx="5486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242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Required — used to match uplift rule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535424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535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Country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535424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4535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country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535424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5354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Required — part of unique key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828032"/>
            <a:ext cx="3200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828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Standard Cost (PSC)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4828032"/>
            <a:ext cx="27432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0440" y="4828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psc_value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828032"/>
            <a:ext cx="5486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828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Required for calculation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20640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Currency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5120640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2044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currency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120640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Optional — informational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413248"/>
            <a:ext cx="3200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 Tier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20440" y="5413248"/>
            <a:ext cx="27432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20440" y="5413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service_tier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5413248"/>
            <a:ext cx="5486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5413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Optional — used by tier-based factors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705856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5705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 Term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5705856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0440" y="5705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service_term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5705856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9360" y="57058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Optional — 1yr / 3yr / 5yr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998464"/>
            <a:ext cx="3200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5998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Delivery Type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20440" y="5998464"/>
            <a:ext cx="27432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0440" y="5998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service_delivery_type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5998464"/>
            <a:ext cx="5486400" cy="274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59984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Optional — Onsite / Depot etc.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6291072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6291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Included ADP/KYD/SBTY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20440" y="6291072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2044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included_adp 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6291072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09360" y="62910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Optional — boolean flags for add-ons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3 — Calculate &amp;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Run the uplift engine and download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10312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23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  <a:latin typeface="Calibri"/>
              </a:rPr>
              <a:t>Select a cycle on
the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11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417320"/>
            <a:ext cx="210312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011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2423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  <a:latin typeface="Calibri"/>
              </a:rPr>
              <a:t>Ensure ≥1 Released
rule per (TOS, GEO)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1417320"/>
            <a:ext cx="210312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2011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Click 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2423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  <a:latin typeface="Calibri"/>
              </a:rPr>
              <a:t>Tab 4 → Calculate
button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2011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1417320"/>
            <a:ext cx="210312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79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2011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Review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2423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  <a:latin typeface="Calibri"/>
              </a:rPr>
              <a:t>Tab 5 shows counts:
calculated / no_rule / no_psc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011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0012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210312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011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Export 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423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  <a:latin typeface="Calibri"/>
              </a:rPr>
              <a:t>Download full results
with uplift breakdown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57600"/>
            <a:ext cx="11612880" cy="2880360"/>
          </a:xfrm>
          <a:prstGeom prst="rect">
            <a:avLst/>
          </a:prstGeom>
          <a:solidFill>
            <a:srgbClr val="F9F9F9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How the Engine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60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 For each SKU with a PSC value, the engine finds the best-matching Released rule by (type_of_service, geo).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617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 It then evaluates every factor in that rule: if the SKU's field value is in the factor's Allowed Values list, the ratio is added.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74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 Sales Cost = PSC × (1 + sum of all matching factor ratios).  The full factor breakdown is stored as JSON for audit.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 SKUs with no matching Released rule are flagged 'No Rule'.  SKUs missing PSC are flagged 'No PSC'.  Both appear in the export.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 Re-running Calculate overwrites previous results. The audit log records every recalculation with timestamp and user.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4 — Data Import &amp;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Upload the pricing Excel and configure global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5120640"/>
          </a:xfrm>
          <a:prstGeom prst="rect">
            <a:avLst/>
          </a:prstGeom>
          <a:solidFill>
            <a:srgbClr val="FDF0E8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  <a:latin typeface="Calibri"/>
              </a:rPr>
              <a:t>Pricing Excel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Sheet:  'Pricing with sales costs' (auto-detected)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Fixed columns (A–E):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06624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A: Part Number   B: Tier   C: Base Warranty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5351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D: Upgrade Description   E: Delivery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4728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Geographic blocks (F onward):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9417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Merged header cell = Region name (e.g. BENELUX)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41064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Sub-columns per region: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8795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  Cost | Channel Price | GP% | ESS Profit | List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8172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Parser auto-detects: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2861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Regions from merged header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Upgrade years from description (e.g. '3Y Onsite NBD' →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2239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Tier names (added to tier_sequence if new)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After import: summary shows SKUs, price records,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6305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regions, tiers found, new tiers (verify sequence!).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417320"/>
            <a:ext cx="5760720" cy="5120640"/>
          </a:xfrm>
          <a:prstGeom prst="rect">
            <a:avLst/>
          </a:prstGeom>
          <a:solidFill>
            <a:srgbClr val="F4F4F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Settings — Key 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Tier Sequence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24027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Sort order determines validation direction.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46887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Entry (10) &lt; Standard (20) &lt; Professional (30) &lt; Enterprise (40)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9747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Reorder after import if new tiers appear.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Ratio Bands (Layer 2 thresholds)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918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3yr / 1yr:  min 1.8×  max 2.8×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5204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5yr / 3yr:  min 1.3×  max 1.7×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4yr / 2yr:  min 1.3×  max 2.0×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069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Cross-Geo Deviation (Layer 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34339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Default threshold: 20% from regional mean.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57199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Systemic flag if 3+ regions share the pattern.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892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YoY Drift Threshold (Layer 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16635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Default: 25% change vs prior baseline triggers Critical.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48639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List Price Inputs (per tier)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7607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GM%   →  B2C:  list = cost ÷ (1 − GM%)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9893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Markup%  →  B2B:  floor = cost × (1 + Markup%)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4 — Matrix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Aggregated pricing grid before running GVE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The Matrix View (Tab 2) aggregates imported SKU prices into a grid by Tier × Upgrade Years × Delivery Type × Region. It surfaces the GVE status badge (OK / Warning / Systemic / Critical) for each cell after GVE is run, helping you spot anomalies visually.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150876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Tier \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377440"/>
            <a:ext cx="1645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BENELUX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377440"/>
            <a:ext cx="1645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NORDICS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377440"/>
            <a:ext cx="1645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377440"/>
            <a:ext cx="16459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80360"/>
            <a:ext cx="150876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8803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Entry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88036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15468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15468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88036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15468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15468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88036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$49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15468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315468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88036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15468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315468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83280"/>
            <a:ext cx="1508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3832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Standard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3410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65760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0" y="365760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410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$102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365760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0" y="365760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3410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$98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657600"/>
            <a:ext cx="868680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365760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338328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3410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$110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65760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365760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886200"/>
            <a:ext cx="150876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3886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Professional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388620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$180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94560" y="416052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94560" y="416052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388620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$195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40480" y="4160520"/>
            <a:ext cx="868680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416052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388620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$185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416052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0" y="416052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0" y="3886200"/>
            <a:ext cx="16459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6560" y="3913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$210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416052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416052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389120"/>
            <a:ext cx="1508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4389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Enterprise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0" y="438912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$330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94560" y="466344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94560" y="466344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438912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7472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$350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0" y="466344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40480" y="466344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438912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2064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$340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0" y="466344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0" y="466344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766560" y="438912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6656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Calibri"/>
              </a:rPr>
              <a:t>$380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32320" y="4663440"/>
            <a:ext cx="868680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0" y="4663440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Legend: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86800" y="2788920"/>
            <a:ext cx="1005840" cy="32004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0" y="2788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86800" y="3200400"/>
            <a:ext cx="100584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86800" y="3200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86800" y="3611879"/>
            <a:ext cx="1005840" cy="3200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86800" y="36118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686800" y="4023360"/>
            <a:ext cx="1005840" cy="32004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8680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Systemic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Filters: Region · Delivery Type  |  GVE badges appear after running GVE (Tab 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4 — GVE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4-layer automated pricing consistency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612880" cy="1261872"/>
          </a:xfrm>
          <a:prstGeom prst="rect">
            <a:avLst/>
          </a:prstGeom>
          <a:solidFill>
            <a:srgbClr val="F9F9F9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64592" cy="126187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Layer 1 — Directional Monotonicity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481328"/>
            <a:ext cx="2377440" cy="2743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4813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Checks: for each (upgrade_years, delivery_type, region), avg cost per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4825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must follow the configured tier_sequence order (cheapest → most premium).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67712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Scope: every tier pair in sequence.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8716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Example violation: Entry avg $150 &gt; Standard avg $140 in BENELUX 3yr Onsite.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11612880" cy="1261872"/>
          </a:xfrm>
          <a:prstGeom prst="rect">
            <a:avLst/>
          </a:prstGeom>
          <a:solidFill>
            <a:srgbClr val="F9F9F9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164592" cy="12618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889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Layer 2 — Upgrade-Year Ratio Bands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807208"/>
            <a:ext cx="23774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807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 /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5468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Checks: for each (tier, delivery_type, region), the ratio between upgrade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7413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must stay within configured min/max bands.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93592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Pairs: 3yr÷1yr (band 1.8–2.8×) · 5yr÷3yr (1.3–1.7×) · 4yr÷2yr (1.3–2.0×).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1304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Below floor = Critical.  Above ceiling = Warning.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11612880" cy="1261872"/>
          </a:xfrm>
          <a:prstGeom prst="rect">
            <a:avLst/>
          </a:prstGeom>
          <a:solidFill>
            <a:srgbClr val="F9F9F9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069080"/>
            <a:ext cx="164592" cy="126187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Layer 3 — Cross-Geo Consistency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4133088"/>
            <a:ext cx="2377440" cy="27432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133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WARNING / SYSTEMIC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Checks: for each (tier, delivery_type, upgrade_years), each region's avg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0001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must not deviate more than the threshold (default 20%) from the cross-region mean.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19472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Systemic flag: if 3+ regions share the same deviation pattern (methodology error).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394959"/>
            <a:ext cx="11612880" cy="1261872"/>
          </a:xfrm>
          <a:prstGeom prst="rect">
            <a:avLst/>
          </a:prstGeom>
          <a:solidFill>
            <a:srgbClr val="F9F9F9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394959"/>
            <a:ext cx="164592" cy="12618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4067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Layer 4 — Year-over-Year Drift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5458967"/>
            <a:ext cx="2377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545896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39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Compares current sales_cost vs prior_baseline per (part_number, region).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25895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Default threshold: 25% change triggers a Critical flag.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45351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  · Requires: prior baseline CSV uploaded in Import tab (optional but recommended).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4 — Resolving Violations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Review, explain, and clear GVE findings before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Violations Table (Tab 3 — GVE Validation)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68580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828800"/>
            <a:ext cx="109728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828800"/>
            <a:ext cx="109728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182880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828800"/>
            <a:ext cx="109728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82880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828800"/>
            <a:ext cx="91440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82880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Upgrade Yrs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1828800"/>
            <a:ext cx="365760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8288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1828800"/>
            <a:ext cx="100584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182880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1828800"/>
            <a:ext cx="914400" cy="3017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82880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12848"/>
            <a:ext cx="6858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24028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2212848"/>
            <a:ext cx="109728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0012"/>
                </a:solidFill>
                <a:latin typeface="Calibri"/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2212848"/>
            <a:ext cx="109728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BENELUX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212848"/>
            <a:ext cx="109728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212848"/>
            <a:ext cx="9144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3yr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2212848"/>
            <a:ext cx="36576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Entry avg $150 &gt; Standard avg $140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2212848"/>
            <a:ext cx="100584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2240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0012"/>
                </a:solidFill>
                <a:latin typeface="Calibri"/>
              </a:rPr>
              <a:t>Unresolved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2212848"/>
            <a:ext cx="9144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Resolve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596896"/>
            <a:ext cx="685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2624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2596896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2624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Warning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2596896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24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NORDICS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2596896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2624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2596896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2624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3yr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2596896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2624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3yr÷1yr ratio = 4.5× (max 2.8×)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2596896"/>
            <a:ext cx="1005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26243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8B22"/>
                </a:solidFill>
                <a:latin typeface="Calibri"/>
              </a:rPr>
              <a:t>Resolved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9800" y="2596896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9800" y="2624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Unresolve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980944"/>
            <a:ext cx="6858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300837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" y="2980944"/>
            <a:ext cx="109728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3008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0080"/>
                </a:solidFill>
                <a:latin typeface="Calibri"/>
              </a:rPr>
              <a:t>Systemic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2980944"/>
            <a:ext cx="109728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008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FRANCE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2980944"/>
            <a:ext cx="109728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54680" y="3008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Standard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51960" y="2980944"/>
            <a:ext cx="9144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30083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1yr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66360" y="2980944"/>
            <a:ext cx="36576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66360" y="30083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FRANCE deviates 35% from geo mean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23960" y="2980944"/>
            <a:ext cx="100584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23960" y="30083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0012"/>
                </a:solidFill>
                <a:latin typeface="Calibri"/>
              </a:rPr>
              <a:t>Unresolved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2980944"/>
            <a:ext cx="914400" cy="3657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29800" y="30083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Resolve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364992"/>
            <a:ext cx="685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339242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" y="3364992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3392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0012"/>
                </a:solidFill>
                <a:latin typeface="Calibri"/>
              </a:rPr>
              <a:t>Critical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364992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392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DACH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54680" y="3364992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54680" y="3392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Enterprise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3364992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51960" y="33924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5yr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66360" y="3364992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66360" y="3392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YoY drift +38% vs FY2025 baseline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23960" y="3364992"/>
            <a:ext cx="1005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2396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0012"/>
                </a:solidFill>
                <a:latin typeface="Calibri"/>
              </a:rPr>
              <a:t>Unresolved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29800" y="3364992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29800" y="33924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Resolve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Resolution Process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069080"/>
            <a:ext cx="2103120" cy="2468880"/>
          </a:xfrm>
          <a:prstGeom prst="rect">
            <a:avLst/>
          </a:prstGeom>
          <a:solidFill>
            <a:srgbClr val="F0F0F0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413308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Filter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4498848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Use Severity / Layer / Region filters and 'Unresolved only' to prioritize.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606039" y="4069080"/>
            <a:ext cx="2103120" cy="2468880"/>
          </a:xfrm>
          <a:prstGeom prst="rect">
            <a:avLst/>
          </a:prstGeom>
          <a:solidFill>
            <a:srgbClr val="F0F0F0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97479" y="413308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Understand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97479" y="4498848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Read the violation message carefully — it tells you exactly what and where.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59" y="4069080"/>
            <a:ext cx="2103120" cy="2468880"/>
          </a:xfrm>
          <a:prstGeom prst="rect">
            <a:avLst/>
          </a:prstGeom>
          <a:solidFill>
            <a:srgbClr val="F0F0F0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0" y="413308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Resolve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0" y="4498848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Click Resolve → enter a business justification → Save. Violation marked Resolved.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269479" y="4069080"/>
            <a:ext cx="2103120" cy="2468880"/>
          </a:xfrm>
          <a:prstGeom prst="rect">
            <a:avLst/>
          </a:prstGeom>
          <a:solidFill>
            <a:srgbClr val="F0F0F0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60919" y="413308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Unresolve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19" y="4498848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If justification was wrong, click Unresolve to reopen. Re-run GVE if data changed.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01200" y="4069080"/>
            <a:ext cx="2103120" cy="2468880"/>
          </a:xfrm>
          <a:prstGeom prst="rect">
            <a:avLst/>
          </a:prstGeom>
          <a:solidFill>
            <a:srgbClr val="F0F0F0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92640" y="413308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Submit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92640" y="4498848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All unresolved Critical violations must be resolved before cycle submission.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4 — List Price &amp; 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Compute channel markups, review list prices, and lock the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FDF0E8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  <a:latin typeface="Calibri"/>
              </a:rPr>
              <a:t>List Price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Configure in Settings (per tier):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0827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GM%    →  gross margin for B2C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1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Markup%  →  channel markup for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29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Formulas: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775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B2C (Direct List Price):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1985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  list_b2c = sales_cost ÷ (1 − GM%)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6217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7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B2B (Quoted Floor Price):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4680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  floor_b2b = sales_cost × (1 + Markup%)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3143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Example (Entry tier, GM=25%, Markup=35%):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7375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Sales Cost = $100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1606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B2C  = $100 ÷ 0.75  = $133.33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58383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B2B  = $100 × 1.35  = $135.00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007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430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Results stored in: computed_list_price_b2c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85331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                 computed_quoted_floor_b2b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27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99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Errors returned if GM/Markup not set for a tier.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417320"/>
            <a:ext cx="5852160" cy="237744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B22"/>
                </a:solidFill>
                <a:latin typeface="Calibri"/>
              </a:rPr>
              <a:t>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9659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Pre-condition: zero unresolved Critical violations.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3134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Click Submit on the cycle dashboard or via API.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660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Cycle status → 'Submitted'; timestamp + user recorded.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0083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Data is locked — no further imports or calculation changes.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3558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  • Audit log records the submission event.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5852160" cy="2651760"/>
          </a:xfrm>
          <a:prstGeom prst="rect">
            <a:avLst/>
          </a:prstGeom>
          <a:solidFill>
            <a:srgbClr val="F4F4F4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Exports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434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SKU Prices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7823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All part numbers with sales_cost, channel_price,
  list_price, B2C, B2B — ready for downstream use.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440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GVE Report (HTML)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78815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Full violation log: layer, severity, region,
  message, resolution status &amp; explanations.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Tips, Troubleshooting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Common issues, quick fixes,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669280" cy="5120640"/>
          </a:xfrm>
          <a:prstGeom prst="rect">
            <a:avLst/>
          </a:prstGeom>
          <a:solidFill>
            <a:srgbClr val="FDF8E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000"/>
                </a:solidFill>
                <a:latin typeface="Calibri"/>
              </a:rPr>
              <a:t>Troubleshooting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96012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'No Rule' SKUs:  Release a rule matching the SKU's (type_of_service, geo).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96012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14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Cannot edit rule:  Status must be Draft. Create a new rule if already Released.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96012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Duplicate SKU import:  Same (cycle, service_pn, country) replaces the old 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96012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Layer 1 shows no violations:  Verify tier_sequence is configured in Settings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96012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23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Layer 4 missing:  Upload prior baseline CSV in Import tab (optional).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96012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2628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26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Cannot submit cycle:  Check GVE tab: filter Unresolved + Critical and resolve each.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29200"/>
            <a:ext cx="96012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0292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29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List price errors:  Set GM% and Markup% for every tier in Settings.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32120"/>
            <a:ext cx="96012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3212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Both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532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Port conflict:  Set GPS_PORT env var before launching start.bat.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35040"/>
            <a:ext cx="960120" cy="32004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03504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Both stages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6035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Shared database:  Set GPS_DB_PATH to absolute path of shared pricing.db.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417320"/>
            <a:ext cx="5669280" cy="5120640"/>
          </a:xfrm>
          <a:prstGeom prst="rect">
            <a:avLst/>
          </a:prstGeom>
          <a:solidFill>
            <a:srgbClr val="F4F4F4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Roadmap — Stages Not Yet Built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965960"/>
            <a:ext cx="100584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965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1965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Standard Cost Import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3134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CSV/Excel import of standard cost data. Feeds into Stage 2 PSC calc.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862072"/>
            <a:ext cx="100584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28620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Forward Adjustment (PSC)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2095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PSC = Standard Cost × F_failure × F_parts × F_labor × F_mix.
Dimension-driven multiplier engine.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758183"/>
            <a:ext cx="100584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75818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758183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List Price Derivation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105655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Dedicated B2C/B2B list price stage with channel rules.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654296"/>
            <a:ext cx="100584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6542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Launcher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65429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Master Launcher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0017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One-click start.bat to open all stages simultaneously.
Shared GPS_DB_PATH wired automatically.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550408"/>
            <a:ext cx="100584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550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Packaging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55504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PyInstaller .exe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97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Distribute as a standalone Windows executable.
No Python install required on end-user machine.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Distribution &amp;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Share the tool as a standalone package — no Python required on recipient's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254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03520" cy="512064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What's in the 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GPS_Pricing_Workbench.zip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└─ GPS_Pricing_Workbench\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├─ Stage3_SalesCost\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│    ├─ Stage3_SalesCost.exe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│    ├─ _internal\  (Flask + deps)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│    └─ pricing.db   (created on 1st run)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├─ Stage4_GVE\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│    ├─ Stage4_GVE.exe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│    ├─ _internal\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│    └─ pricing.db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├─ Launch All Stages.bat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├─ GPS_Pricing_Workbench_UserManual.pptx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       └─ README.txt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417320"/>
            <a:ext cx="5943600" cy="2468880"/>
          </a:xfrm>
          <a:prstGeom prst="rect">
            <a:avLst/>
          </a:prstGeom>
          <a:solidFill>
            <a:srgbClr val="F0FFF0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B22"/>
                </a:solidFill>
                <a:latin typeface="Calibri"/>
              </a:rPr>
              <a:t>How to Build (developer)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Run from GPS_Pricing_Workbench\ root: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221991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ourier New"/>
              </a:rPr>
              <a:t>   build\build_all.bat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47802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73405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Script will: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99008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Build Stage3_SalesCost.exe via PyInstaller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24612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Build Stage4_GVE.exe via PyInstaller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50215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Assemble dist\GPS_Pricing_Workbench\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75818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• Create GPS_Pricing_Workbench.zip  (~33 MB)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069080"/>
            <a:ext cx="5943600" cy="2468880"/>
          </a:xfrm>
          <a:prstGeom prst="rect">
            <a:avLst/>
          </a:prstGeom>
          <a:solidFill>
            <a:srgbClr val="FDF8E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1605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000"/>
                </a:solidFill>
                <a:latin typeface="Calibri"/>
              </a:rPr>
              <a:t>How to Install (recipient)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61772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1.  Unzip GPS_Pricing_Workbench.zip anywhere.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87375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2.  Double-click  Launch All Stages.bat.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129783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3.  Two browser tabs open automatically.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38581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4.  Data saved in pricing.db (next to each .exe).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64184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9788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System requirements: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615391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Windows 10 / 11  (64-bit)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640994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  No Python, no installs, no admin rights needed.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GPS Pricing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Calibri"/>
              </a:rPr>
              <a:t>Internal Tool — Lenovo GPS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AAAA"/>
                </a:solidFill>
                <a:latin typeface="Calibri"/>
              </a:rPr>
              <a:t>For questions or issues, contact your local GPS Pricing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Version 1.0  ·  March 2026  · 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